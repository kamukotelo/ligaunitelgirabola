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Golos marcados na época (jornadas 1–5)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Golos marcados</c:v>
                </c:pt>
              </c:strCache>
            </c:strRef>
          </c:tx>
          <c:spPr>
            <a:solidFill>
              <a:srgbClr val="F2C94C"/>
            </a:solidFill>
          </c:spPr>
          <c:cat>
            <c:strRef>
              <c:f>Sheet1!$A$2:$A$17</c:f>
              <c:strCache>
                <c:ptCount val="16"/>
                <c:pt idx="0">
                  <c:v>Académica Lobito (5 J)</c:v>
                </c:pt>
                <c:pt idx="1">
                  <c:v>São Salvador (5 J)</c:v>
                </c:pt>
                <c:pt idx="2">
                  <c:v>FC Cabinda (5 J)</c:v>
                </c:pt>
                <c:pt idx="3">
                  <c:v>Kabuscorp (4 J)</c:v>
                </c:pt>
                <c:pt idx="4">
                  <c:v>Sagrada Esperança (3 J)</c:v>
                </c:pt>
                <c:pt idx="5">
                  <c:v>Desp. Lunda Sul (5 J)</c:v>
                </c:pt>
                <c:pt idx="6">
                  <c:v>FC Luanda (5 J)</c:v>
                </c:pt>
                <c:pt idx="7">
                  <c:v>CR Caála (5 J)</c:v>
                </c:pt>
                <c:pt idx="8">
                  <c:v>Rec. do Libolo (5 J)</c:v>
                </c:pt>
                <c:pt idx="9">
                  <c:v>Desp. da Huíla (5 J)</c:v>
                </c:pt>
                <c:pt idx="10">
                  <c:v>Estrela 1.º Maio (5 J)</c:v>
                </c:pt>
                <c:pt idx="11">
                  <c:v>Interclube (5 J)</c:v>
                </c:pt>
                <c:pt idx="12">
                  <c:v>Petro de Luanda (4 J)</c:v>
                </c:pt>
                <c:pt idx="13">
                  <c:v>Bravos do Maquis (5 J)</c:v>
                </c:pt>
                <c:pt idx="14">
                  <c:v>1.º de Agosto (5 J)</c:v>
                </c:pt>
                <c:pt idx="15">
                  <c:v>Wiliete SC (5 J)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7</c:v>
                </c:pt>
                <c:pt idx="14">
                  <c:v>9</c:v>
                </c:pt>
                <c:pt idx="1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D5E0E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solidFill>
          <a:srgbClr val="0C2639"/>
        </a:solidFill>
        <a:ln>
          <a:noFill/>
        </a:ln>
      </c:spPr>
    </c:plotArea>
    <c:dispBlanksAs val="gap"/>
  </c:chart>
  <c:spPr>
    <a:solidFill>
      <a:srgbClr val="0C2639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Golos sofridos na época (menos é melhor)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Golos sofridos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Sheet1!$A$2:$A$17</c:f>
              <c:strCache>
                <c:ptCount val="16"/>
                <c:pt idx="0">
                  <c:v>Rec. do Libolo (5 J)</c:v>
                </c:pt>
                <c:pt idx="1">
                  <c:v>Académica Lobito (5 J)</c:v>
                </c:pt>
                <c:pt idx="2">
                  <c:v>FC Luanda (5 J)</c:v>
                </c:pt>
                <c:pt idx="3">
                  <c:v>FC Cabinda (5 J)</c:v>
                </c:pt>
                <c:pt idx="4">
                  <c:v>CR Caála (5 J)</c:v>
                </c:pt>
                <c:pt idx="5">
                  <c:v>Sagrada Esperança (3 J)</c:v>
                </c:pt>
                <c:pt idx="6">
                  <c:v>1.º de Agosto (5 J)</c:v>
                </c:pt>
                <c:pt idx="7">
                  <c:v>Estrela 1.º Maio (5 J)</c:v>
                </c:pt>
                <c:pt idx="8">
                  <c:v>Desp. Lunda Sul (5 J)</c:v>
                </c:pt>
                <c:pt idx="9">
                  <c:v>São Salvador (5 J)</c:v>
                </c:pt>
                <c:pt idx="10">
                  <c:v>Interclube (5 J)</c:v>
                </c:pt>
                <c:pt idx="11">
                  <c:v>Desp. da Huíla (5 J)</c:v>
                </c:pt>
                <c:pt idx="12">
                  <c:v>Kabuscorp (4 J)</c:v>
                </c:pt>
                <c:pt idx="13">
                  <c:v>Bravos do Maquis (5 J)</c:v>
                </c:pt>
                <c:pt idx="14">
                  <c:v>Wiliete SC (5 J)</c:v>
                </c:pt>
                <c:pt idx="15">
                  <c:v>Petro de Luanda (4 J)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  <c:pt idx="1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D5E0E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solidFill>
          <a:srgbClr val="0C2639"/>
        </a:solidFill>
        <a:ln>
          <a:noFill/>
        </a:ln>
      </c:spPr>
    </c:plotArea>
    <c:dispBlanksAs val="gap"/>
  </c:chart>
  <c:spPr>
    <a:solidFill>
      <a:srgbClr val="0C2639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Cartões na época: 113 amarelos e 2 vermelhos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Amarelos</c:v>
                </c:pt>
              </c:strCache>
            </c:strRef>
          </c:tx>
          <c:spPr>
            <a:solidFill>
              <a:srgbClr val="F2C94C"/>
            </a:solidFill>
          </c:spPr>
          <c:cat>
            <c:strRef>
              <c:f>Sheet1!$A$2:$A$17</c:f>
              <c:strCache>
                <c:ptCount val="16"/>
                <c:pt idx="0">
                  <c:v>Wiliete SC</c:v>
                </c:pt>
                <c:pt idx="1">
                  <c:v>Bravos do Maquis</c:v>
                </c:pt>
                <c:pt idx="2">
                  <c:v>Rec. do Libolo</c:v>
                </c:pt>
                <c:pt idx="3">
                  <c:v>Interclube</c:v>
                </c:pt>
                <c:pt idx="4">
                  <c:v>Desp. da Huíla</c:v>
                </c:pt>
                <c:pt idx="5">
                  <c:v>São Salvador</c:v>
                </c:pt>
                <c:pt idx="6">
                  <c:v>Petro de Luanda</c:v>
                </c:pt>
                <c:pt idx="7">
                  <c:v>Kabuscorp</c:v>
                </c:pt>
                <c:pt idx="8">
                  <c:v>CR Caála</c:v>
                </c:pt>
                <c:pt idx="9">
                  <c:v>Estrela 1.º Maio</c:v>
                </c:pt>
                <c:pt idx="10">
                  <c:v>FC Luanda</c:v>
                </c:pt>
                <c:pt idx="11">
                  <c:v>Sagrada Esperança</c:v>
                </c:pt>
                <c:pt idx="12">
                  <c:v>1.º de Agosto</c:v>
                </c:pt>
                <c:pt idx="13">
                  <c:v>Académica Lobito</c:v>
                </c:pt>
                <c:pt idx="14">
                  <c:v>FC Cabinda</c:v>
                </c:pt>
                <c:pt idx="15">
                  <c:v>Desp. Lunda Sul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9</c:v>
                </c:pt>
                <c:pt idx="13">
                  <c:v>9</c:v>
                </c:pt>
                <c:pt idx="14">
                  <c:v>17</c:v>
                </c:pt>
                <c:pt idx="1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Vermelhos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Sheet1!$A$2:$A$17</c:f>
              <c:strCache>
                <c:ptCount val="16"/>
                <c:pt idx="0">
                  <c:v>Wiliete SC</c:v>
                </c:pt>
                <c:pt idx="1">
                  <c:v>Bravos do Maquis</c:v>
                </c:pt>
                <c:pt idx="2">
                  <c:v>Rec. do Libolo</c:v>
                </c:pt>
                <c:pt idx="3">
                  <c:v>Interclube</c:v>
                </c:pt>
                <c:pt idx="4">
                  <c:v>Desp. da Huíla</c:v>
                </c:pt>
                <c:pt idx="5">
                  <c:v>São Salvador</c:v>
                </c:pt>
                <c:pt idx="6">
                  <c:v>Petro de Luanda</c:v>
                </c:pt>
                <c:pt idx="7">
                  <c:v>Kabuscorp</c:v>
                </c:pt>
                <c:pt idx="8">
                  <c:v>CR Caála</c:v>
                </c:pt>
                <c:pt idx="9">
                  <c:v>Estrela 1.º Maio</c:v>
                </c:pt>
                <c:pt idx="10">
                  <c:v>FC Luanda</c:v>
                </c:pt>
                <c:pt idx="11">
                  <c:v>Sagrada Esperança</c:v>
                </c:pt>
                <c:pt idx="12">
                  <c:v>1.º de Agosto</c:v>
                </c:pt>
                <c:pt idx="13">
                  <c:v>Académica Lobito</c:v>
                </c:pt>
                <c:pt idx="14">
                  <c:v>FC Cabinda</c:v>
                </c:pt>
                <c:pt idx="15">
                  <c:v>Desp. Lunda Sul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D5E0E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solidFill>
          <a:srgbClr val="0C2639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5E0EA"/>
              </a:solidFill>
              <a:latin typeface="Calibri"/>
            </a:defRPr>
          </a:pPr>
        </a:p>
      </c:txPr>
    </c:legend>
    <c:dispBlanksAs val="gap"/>
  </c:chart>
  <c:spPr>
    <a:solidFill>
      <a:srgbClr val="0C2639"/>
    </a:solidFill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Sete dos oito jogos da 5.ª jornada estão realizados. Dados retirados do registo único por jogo do portal (src/data/jogos/2026-27) a 21 de setembro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«Motivado» (FC Luanda) e «Cláudio» (Estrela 1.º de Maio) são as alcunhas publicadas pela fonte de resultados e aguardam confirmação na ficha da FAF.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Relationship Id="rId9" Type="http://schemas.openxmlformats.org/officeDocument/2006/relationships/image" Target="../media/image14.png"/><Relationship Id="rId10" Type="http://schemas.openxmlformats.org/officeDocument/2006/relationships/image" Target="../media/image16.png"/><Relationship Id="rId11" Type="http://schemas.openxmlformats.org/officeDocument/2006/relationships/image" Target="../media/image7.png"/><Relationship Id="rId12" Type="http://schemas.openxmlformats.org/officeDocument/2006/relationships/image" Target="../media/image17.png"/><Relationship Id="rId13" Type="http://schemas.openxmlformats.org/officeDocument/2006/relationships/image" Target="../media/image2.png"/><Relationship Id="rId14" Type="http://schemas.openxmlformats.org/officeDocument/2006/relationships/image" Target="../media/image9.png"/><Relationship Id="rId15" Type="http://schemas.openxmlformats.org/officeDocument/2006/relationships/image" Target="../media/image8.png"/><Relationship Id="rId16" Type="http://schemas.openxmlformats.org/officeDocument/2006/relationships/image" Target="../media/image11.png"/><Relationship Id="rId17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5.jp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1.xm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2.xml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chart" Target="../charts/chart3.xml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6.png"/><Relationship Id="rId10" Type="http://schemas.openxmlformats.org/officeDocument/2006/relationships/image" Target="../media/image14.png"/><Relationship Id="rId11" Type="http://schemas.openxmlformats.org/officeDocument/2006/relationships/image" Target="../media/image16.png"/><Relationship Id="rId12" Type="http://schemas.openxmlformats.org/officeDocument/2006/relationships/image" Target="../media/image7.png"/><Relationship Id="rId13" Type="http://schemas.openxmlformats.org/officeDocument/2006/relationships/image" Target="../media/image1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8.png"/><Relationship Id="rId17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Relationship Id="rId9" Type="http://schemas.openxmlformats.org/officeDocument/2006/relationships/image" Target="../media/image6.png"/><Relationship Id="rId10" Type="http://schemas.openxmlformats.org/officeDocument/2006/relationships/image" Target="../media/image15.jpg"/><Relationship Id="rId11" Type="http://schemas.openxmlformats.org/officeDocument/2006/relationships/image" Target="../media/image17.png"/><Relationship Id="rId12" Type="http://schemas.openxmlformats.org/officeDocument/2006/relationships/image" Target="../media/image3.png"/><Relationship Id="rId13" Type="http://schemas.openxmlformats.org/officeDocument/2006/relationships/image" Target="../media/image8.png"/><Relationship Id="rId14" Type="http://schemas.openxmlformats.org/officeDocument/2006/relationships/image" Target="../media/image4.png"/><Relationship Id="rId15" Type="http://schemas.openxmlformats.org/officeDocument/2006/relationships/image" Target="../media/image13.png"/><Relationship Id="rId16" Type="http://schemas.openxmlformats.org/officeDocument/2006/relationships/image" Target="../media/image9.png"/><Relationship Id="rId17" Type="http://schemas.openxmlformats.org/officeDocument/2006/relationships/image" Target="../media/image7.png"/><Relationship Id="rId18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143000" cy="1298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914400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 spc="300">
                <a:solidFill>
                  <a:srgbClr val="F2C94C"/>
                </a:solidFill>
                <a:latin typeface="Calibri"/>
              </a:rPr>
              <a:t>LIGA UNITEL GIRABOLA 2026/2027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11887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8000" b="1" i="0">
                <a:solidFill>
                  <a:srgbClr val="FFFFFF"/>
                </a:solidFill>
                <a:latin typeface="Calibri"/>
              </a:rPr>
              <a:t>5.ª Jornada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0120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2000" b="0" i="0">
                <a:solidFill>
                  <a:srgbClr val="D5E0EA"/>
                </a:solidFill>
                <a:latin typeface="Calibri"/>
              </a:rPr>
              <a:t>Análise estatística: resultados, marcadores, classificação, ataque, defesa e disciplina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79392"/>
            <a:ext cx="96012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400" b="0" i="1">
                <a:solidFill>
                  <a:srgbClr val="8FA6BC"/>
                </a:solidFill>
                <a:latin typeface="Calibri"/>
              </a:rPr>
              <a:t>Jogos de sábado 19/09 a segunda 21/09 · 1 jogo adiado para 4 de novembro · antevisão da 6.ª jornada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45" y="5621365"/>
            <a:ext cx="425013" cy="42501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412748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273" y="5621365"/>
            <a:ext cx="425013" cy="425013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093976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501" y="5621365"/>
            <a:ext cx="425013" cy="42501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775204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8729" y="5621365"/>
            <a:ext cx="425013" cy="425013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56432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9957" y="5621365"/>
            <a:ext cx="425013" cy="425013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13766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185" y="5621365"/>
            <a:ext cx="425013" cy="425013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4818888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imeiroma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2413" y="5621365"/>
            <a:ext cx="425013" cy="425013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5500116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641" y="5621365"/>
            <a:ext cx="425013" cy="425013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181344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4869" y="5621365"/>
            <a:ext cx="425013" cy="425013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62572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undasul-official-202608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6097" y="5621365"/>
            <a:ext cx="425013" cy="425013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54380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aala-official-202608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7325" y="5621365"/>
            <a:ext cx="425013" cy="42501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8225028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8553" y="5621365"/>
            <a:ext cx="425013" cy="425013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8906256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49781" y="5621365"/>
            <a:ext cx="425013" cy="425013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9587484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1009" y="5621365"/>
            <a:ext cx="425013" cy="425013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10268712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binda-official-202608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12237" y="5621365"/>
            <a:ext cx="425013" cy="425013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10949940" y="557784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93465" y="5621365"/>
            <a:ext cx="425013" cy="425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 5.ª jornada em números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459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7/8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963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jogos realizados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163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1 adiado para 4 de novembro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F2C94C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963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golos marcados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163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média de 2,3 por jogo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18B66A"/>
                </a:solidFill>
                <a:latin typeface="Calibri"/>
              </a:rPr>
              <a:t>5·1·1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963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vitórias casa · empates · fora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163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o fator casa foi decisivo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37033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F2C94C"/>
                </a:solidFill>
                <a:latin typeface="Calibri"/>
              </a:rPr>
              <a:t>5–0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537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maior goleada da época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8737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Wiliete SC ao Recreativo do Libolo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63440" y="37033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E63946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537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cartão vermelho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8737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Lunda Sul, aos 30 minutos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20440"/>
            <a:ext cx="3520440" cy="1783080"/>
          </a:xfrm>
          <a:prstGeom prst="roundRect">
            <a:avLst>
              <a:gd name="adj" fmla="val 410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03920" y="3703320"/>
            <a:ext cx="2971800" cy="8686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5400" b="1" i="0">
                <a:solidFill>
                  <a:srgbClr val="0878C9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53712"/>
            <a:ext cx="297180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golos aos 83' ou mais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73752"/>
            <a:ext cx="2971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8FA6BC"/>
                </a:solidFill>
                <a:latin typeface="Calibri"/>
              </a:rPr>
              <a:t>decidiram três dos sete jogos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400" b="1" i="0">
                <a:solidFill>
                  <a:srgbClr val="F2C94C"/>
                </a:solidFill>
                <a:latin typeface="Calibri"/>
              </a:rPr>
              <a:t>Destaque: </a:t>
            </a:r>
            <a:r>
              <a:rPr sz="1400" b="0" i="0">
                <a:solidFill>
                  <a:srgbClr val="D5E0EA"/>
                </a:solidFill>
                <a:latin typeface="Calibri"/>
              </a:rPr>
              <a:t>o Wiliete SC soma 5 vitórias em 5 jogos e lidera com 15 pontos; Mabululu bisou frente ao Recreativo do Libolo e chegou aos 4 golos na época.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Resultados e marcadores da 5.ª jornada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4358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Sábado 19/09 · Estádio França N’dalu · Intervalo 0-1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96" y="1584380"/>
            <a:ext cx="470550" cy="47055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21224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clua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412" y="1584380"/>
            <a:ext cx="470550" cy="47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57276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1.º de Agosto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57276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FC Luanda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154533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3 –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2140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Dagó Tshibamba 52', 89' (g.p.)</a:t>
            </a:r>
          </a:p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Euclides Ronaldo 59' (a.g.)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12140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Gelson Cabeto 35' (g.p.)</a:t>
            </a:r>
          </a:p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Motivado 90'+5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4358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Domingo 20/09 · Estádio dos Mártires da Canhala · Intervalo 0-2</a:t>
            </a:r>
          </a:p>
        </p:txBody>
      </p:sp>
      <p:sp>
        <p:nvSpPr>
          <p:cNvPr id="19" name="Oval 18"/>
          <p:cNvSpPr/>
          <p:nvPr/>
        </p:nvSpPr>
        <p:spPr>
          <a:xfrm>
            <a:off x="6419088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ala-official-202608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276" y="1584380"/>
            <a:ext cx="470550" cy="47055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0890504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92" y="1584380"/>
            <a:ext cx="470550" cy="470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50608" y="157276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CR Caála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57276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Bravos do Maquis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154533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1 –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12140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Valegol 83'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212140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Lito 14'</a:t>
            </a:r>
          </a:p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Ju Cabral 29'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2374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2587751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Domingo 20/09 · Estádio França Ndalu · Intervalo 0-0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2816351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kabuscor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96" y="2864540"/>
            <a:ext cx="470550" cy="47055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5221224" y="2816351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nterclu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9412" y="2864540"/>
            <a:ext cx="470550" cy="470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81328" y="2852927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Kabuscorp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2852927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Interclube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282549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1 –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40156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Joaquim Paciência 90'+11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2" y="340156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52374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0" y="2587751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Domingo 20/09 · Estádio Álvaro Buta · Intervalo 0-0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2816351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aosalvad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276" y="2864540"/>
            <a:ext cx="470550" cy="47055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0890504" y="2816351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abinda-official-202608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8692" y="2864540"/>
            <a:ext cx="470550" cy="470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50608" y="2852927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São Salvador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2852927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FC Cabinda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82549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0 – 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40156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2832" y="340156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80390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31520" y="3867912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Domingo 20/09 · Estádio da Tundavala · Intervalo 0-0</a:t>
            </a:r>
          </a:p>
        </p:txBody>
      </p:sp>
      <p:sp>
        <p:nvSpPr>
          <p:cNvPr id="52" name="Oval 51"/>
          <p:cNvSpPr/>
          <p:nvPr/>
        </p:nvSpPr>
        <p:spPr>
          <a:xfrm>
            <a:off x="749808" y="409651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desphuil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996" y="4144700"/>
            <a:ext cx="470550" cy="470550"/>
          </a:xfrm>
          <a:prstGeom prst="rect">
            <a:avLst/>
          </a:prstGeom>
        </p:spPr>
      </p:pic>
      <p:sp>
        <p:nvSpPr>
          <p:cNvPr id="54" name="Oval 53"/>
          <p:cNvSpPr/>
          <p:nvPr/>
        </p:nvSpPr>
        <p:spPr>
          <a:xfrm>
            <a:off x="5221224" y="409651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lobit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9412" y="4144700"/>
            <a:ext cx="470550" cy="4705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81328" y="413308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Desp. da Huíla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3592" y="413308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Académica Lobito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16352" y="410565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1 – 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68172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João Samazanga 90'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3552" y="468172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80390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00800" y="3867912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Domingo 20/09 · Estádio Nacional de Ombaka · Intervalo 1-0</a:t>
            </a:r>
          </a:p>
        </p:txBody>
      </p:sp>
      <p:sp>
        <p:nvSpPr>
          <p:cNvPr id="63" name="Oval 62"/>
          <p:cNvSpPr/>
          <p:nvPr/>
        </p:nvSpPr>
        <p:spPr>
          <a:xfrm>
            <a:off x="6419088" y="409651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wilie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7276" y="4144700"/>
            <a:ext cx="470550" cy="470550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10890504" y="409651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ibol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38692" y="4144700"/>
            <a:ext cx="470550" cy="47055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150608" y="413308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Wiliete SC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413308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Rec. do Libolo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5632" y="410565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5 – 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19088" y="468172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Bocar Sidibé 1' · Mabululu 49', 63'</a:t>
            </a:r>
          </a:p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Rodino Dumbo 82' · Valter Monteiro 87'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42832" y="468172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5084064"/>
            <a:ext cx="5440680" cy="1225296"/>
          </a:xfrm>
          <a:prstGeom prst="roundRect">
            <a:avLst>
              <a:gd name="adj" fmla="val 597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31520" y="5148072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FA6BC"/>
                </a:solidFill>
                <a:latin typeface="Calibri"/>
              </a:rPr>
              <a:t>Segunda 21/09 · Campo Municipal (Benguela) · Intervalo 0-0</a:t>
            </a:r>
          </a:p>
        </p:txBody>
      </p:sp>
      <p:sp>
        <p:nvSpPr>
          <p:cNvPr id="74" name="Oval 73"/>
          <p:cNvSpPr/>
          <p:nvPr/>
        </p:nvSpPr>
        <p:spPr>
          <a:xfrm>
            <a:off x="749808" y="537667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primeiromai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996" y="5424860"/>
            <a:ext cx="470550" cy="470550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5221224" y="537667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lundasul-official-2026081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9412" y="5424860"/>
            <a:ext cx="470550" cy="47055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481328" y="541324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50" b="1" i="0">
                <a:solidFill>
                  <a:srgbClr val="D5E0EA"/>
                </a:solidFill>
                <a:latin typeface="Calibri"/>
              </a:rPr>
              <a:t>Estrela 1.º Maio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93592" y="5413248"/>
            <a:ext cx="1463040" cy="4754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50" b="1" i="0">
                <a:solidFill>
                  <a:srgbClr val="D5E0EA"/>
                </a:solidFill>
                <a:latin typeface="Calibri"/>
              </a:rPr>
              <a:t>Desp. Lunda Sul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5385816"/>
            <a:ext cx="9144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2C94C"/>
                </a:solidFill>
                <a:latin typeface="Calibri"/>
              </a:rPr>
              <a:t>1 – 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808" y="596188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0" i="0">
                <a:solidFill>
                  <a:srgbClr val="D5E0EA"/>
                </a:solidFill>
                <a:latin typeface="Calibri"/>
              </a:rPr>
              <a:t>Cláudio 55'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73552" y="5961888"/>
            <a:ext cx="2514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/>
            <a:r>
              <a:rPr sz="900" b="0" i="0">
                <a:solidFill>
                  <a:srgbClr val="D5E0EA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CALENDÁRIO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Jogos que faltam realizar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67712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2496312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2570149"/>
            <a:ext cx="721004" cy="72100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566160" y="2496312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abusco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997" y="2570149"/>
            <a:ext cx="721004" cy="7210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37360" y="2542032"/>
            <a:ext cx="141732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Sagrada Esperança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79192"/>
            <a:ext cx="41148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FA6BC"/>
                </a:solidFill>
                <a:latin typeface="Calibri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42032"/>
            <a:ext cx="141732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Kabuscorp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32304"/>
            <a:ext cx="173736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1" i="0">
                <a:solidFill>
                  <a:srgbClr val="F2994A"/>
                </a:solidFill>
                <a:latin typeface="Calibri"/>
              </a:rPr>
              <a:t>3.ª JORNADA · EM ATRASO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79192"/>
            <a:ext cx="1645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Quarta 23/09 · 15:00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53512"/>
            <a:ext cx="1645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Estádio do Sagrada Esperança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255264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255264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67912"/>
            <a:ext cx="7223760" cy="1325880"/>
          </a:xfrm>
          <a:prstGeom prst="roundRect">
            <a:avLst>
              <a:gd name="adj" fmla="val 5517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77240" y="4096512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agr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4170349"/>
            <a:ext cx="721004" cy="721004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3566160" y="4096512"/>
            <a:ext cx="868680" cy="8686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997" y="4170349"/>
            <a:ext cx="721004" cy="7210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37360" y="4142232"/>
            <a:ext cx="141732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Sagrada Esperança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279392"/>
            <a:ext cx="41148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8FA6BC"/>
                </a:solidFill>
                <a:latin typeface="Calibri"/>
              </a:rPr>
              <a:t>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142232"/>
            <a:ext cx="141732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Petro de Luanda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032504"/>
            <a:ext cx="173736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1" i="0">
                <a:solidFill>
                  <a:srgbClr val="F2C94C"/>
                </a:solidFill>
                <a:latin typeface="Calibri"/>
              </a:rPr>
              <a:t>5.ª JORNADA · ADIADO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79392"/>
            <a:ext cx="1645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Quarta 04/11 · 15:30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553712"/>
            <a:ext cx="1645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Estádio do Sagrada Esperança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855464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855464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1"/>
            </a:avLst>
          </a:prstGeom>
          <a:solidFill>
            <a:srgbClr val="103048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66760" y="1691640"/>
            <a:ext cx="2999232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Impacto na classificação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194560"/>
            <a:ext cx="2999232" cy="35204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r>
              <a:rPr sz="1300" b="1" i="0">
                <a:solidFill>
                  <a:srgbClr val="F2C94C"/>
                </a:solidFill>
                <a:latin typeface="Calibri"/>
              </a:rPr>
              <a:t>Sagrada Esperança (14.º, 3 pts, 3 J)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D5E0EA"/>
                </a:solidFill>
                <a:latin typeface="Calibri"/>
              </a:rPr>
              <a:t>É a única equipa com dois jogos por realizar: a 3.ª jornada com o Kabuscorp e a 5.ª com o Petro.</a:t>
            </a:r>
          </a:p>
          <a:p>
            <a:r>
              <a:rPr sz="1300" b="1" i="0">
                <a:solidFill>
                  <a:srgbClr val="F2C94C"/>
                </a:solidFill>
                <a:latin typeface="Calibri"/>
              </a:rPr>
              <a:t>Petro de Luanda (4.º, 10 pts, 4 J)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D5E0EA"/>
                </a:solidFill>
                <a:latin typeface="Calibri"/>
              </a:rPr>
              <a:t>Com uma vitória no reduto do Sagrada chega aos 13 pontos e iguala o 1.º de Agosto no 2.º lugar.</a:t>
            </a:r>
          </a:p>
          <a:p>
            <a:r>
              <a:rPr sz="1300" b="1" i="0">
                <a:solidFill>
                  <a:srgbClr val="F2C94C"/>
                </a:solidFill>
                <a:latin typeface="Calibri"/>
              </a:rPr>
              <a:t>Kabuscorp SC (9.º, 5 pts, 4 J)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D5E0EA"/>
                </a:solidFill>
                <a:latin typeface="Calibri"/>
              </a:rPr>
              <a:t>O jogo em atraso da 3.ª jornada, a 23 de setembro, pode levá-lo aos 8 pontos.</a:t>
            </a:r>
          </a:p>
          <a:p>
            <a:r>
              <a:rPr sz="1300" b="1" i="0">
                <a:solidFill>
                  <a:srgbClr val="F2C94C"/>
                </a:solidFill>
                <a:latin typeface="Calibri"/>
              </a:rPr>
              <a:t>As outras 13 equipas</a:t>
            </a:r>
          </a:p>
          <a:p>
            <a:r>
              <a:rPr sz="1300" b="0" i="0">
                <a:solidFill>
                  <a:srgbClr val="D5E0EA"/>
                </a:solidFill>
                <a:latin typeface="Calibri"/>
              </a:rPr>
              <a:t>Já cumpriram as cinco jornadas, pelo que a tabela só estabiliza depois destes dois jogos.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Classificação geral após a 5.ª jornada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00" b="0" i="1">
                <a:solidFill>
                  <a:srgbClr val="8FA6BC"/>
                </a:solidFill>
                <a:latin typeface="Calibri"/>
              </a:rPr>
              <a:t>Petro e Kabuscorp: 4 J · Sagrada Esperança: 3 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11480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3063240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FA6BC"/>
                </a:solidFill>
                <a:latin typeface="Calibri"/>
              </a:rPr>
              <a:t>Equipa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98448"/>
            <a:ext cx="56692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298448"/>
            <a:ext cx="56692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2976" y="1298448"/>
            <a:ext cx="56692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904" y="1298448"/>
            <a:ext cx="56692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298448"/>
            <a:ext cx="65836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298448"/>
            <a:ext cx="658368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1298448"/>
            <a:ext cx="685800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DG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298448"/>
            <a:ext cx="777240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FA6BC"/>
                </a:solidFill>
                <a:latin typeface="Calibri"/>
              </a:rPr>
              <a:t>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1298448"/>
            <a:ext cx="2203704" cy="3017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FA6BC"/>
                </a:solidFill>
                <a:latin typeface="Calibri"/>
              </a:rPr>
              <a:t>Forma (últimos jogos)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600200"/>
            <a:ext cx="11091672" cy="274320"/>
          </a:xfrm>
          <a:prstGeom prst="rect">
            <a:avLst/>
          </a:prstGeom>
          <a:solidFill>
            <a:srgbClr val="17405E"/>
          </a:solidFill>
          <a:ln w="12700">
            <a:solidFill>
              <a:srgbClr val="17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600200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161848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li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36" y="1638696"/>
            <a:ext cx="197327" cy="197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160020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Wiliete de Benguela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60020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160020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160020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160020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160020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60020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1600200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1600200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2328" y="163677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2328" y="163677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11511" y="163677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1" y="163677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0696" y="163677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0696" y="163677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163677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9880" y="163677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99063" y="163677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99063" y="163677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1901952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1901952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1024128" y="192024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36" y="1940448"/>
            <a:ext cx="197327" cy="197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71600" y="1901952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CD 1.º de Agosto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190195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90195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22976" y="190195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9904" y="190195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190195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190195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8" y="1901952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59368" y="1901952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13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2328" y="193852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193852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11511" y="193852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1" y="193852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40696" y="193852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0696" y="193852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69880" y="193852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69880" y="193852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99063" y="193852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99063" y="193852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2203704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2203704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66" name="Oval 65"/>
          <p:cNvSpPr/>
          <p:nvPr/>
        </p:nvSpPr>
        <p:spPr>
          <a:xfrm>
            <a:off x="1024128" y="222199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336" y="2242200"/>
            <a:ext cx="197327" cy="19732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371600" y="2203704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Bravos do Maquis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220370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56048" y="220370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22976" y="220370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9904" y="220370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56832" y="220370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220370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73568" y="2203704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59368" y="2203704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12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82328" y="224028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82328" y="224028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11511" y="224028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11511" y="224028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40696" y="224028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0696" y="224028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69880" y="224028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69880" y="224028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799063" y="224028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99063" y="224028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2505456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2505456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89" name="Oval 88"/>
          <p:cNvSpPr/>
          <p:nvPr/>
        </p:nvSpPr>
        <p:spPr>
          <a:xfrm>
            <a:off x="1024128" y="252374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pe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336" y="2543952"/>
            <a:ext cx="197327" cy="19732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371600" y="2505456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Petro de Luanda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0" y="250545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56048" y="250545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22976" y="250545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89904" y="250545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56832" y="250545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0" y="250545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73568" y="2505456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59368" y="2505456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10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482328" y="254203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482328" y="254203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11511" y="254203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11511" y="254203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40696" y="254203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140696" y="254203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469880" y="254203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69880" y="254203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2807208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8640" y="2807208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10" name="Oval 109"/>
          <p:cNvSpPr/>
          <p:nvPr/>
        </p:nvSpPr>
        <p:spPr>
          <a:xfrm>
            <a:off x="1024128" y="282549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ntercl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336" y="2845704"/>
            <a:ext cx="197327" cy="19732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371600" y="2807208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GD Interclube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89120" y="280720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56048" y="280720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22976" y="280720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89904" y="280720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832" y="280720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0" y="280720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73568" y="2807208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59368" y="2807208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482328" y="284378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82328" y="284378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811511" y="284378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811511" y="284378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140696" y="284378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40696" y="284378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469880" y="284378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469880" y="284378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799063" y="284378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799063" y="284378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8640" y="3108960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48640" y="3108960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6</a:t>
            </a:r>
          </a:p>
        </p:txBody>
      </p:sp>
      <p:sp>
        <p:nvSpPr>
          <p:cNvPr id="133" name="Oval 132"/>
          <p:cNvSpPr/>
          <p:nvPr/>
        </p:nvSpPr>
        <p:spPr>
          <a:xfrm>
            <a:off x="1024128" y="312724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desphuil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336" y="3147456"/>
            <a:ext cx="197327" cy="197327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371600" y="310896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Desportivo da Huíla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89120" y="310896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56048" y="310896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22976" y="310896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89904" y="310896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656832" y="310896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0" y="310896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973568" y="3108960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59368" y="3108960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9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482328" y="314553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482328" y="314553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811511" y="314553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811511" y="314553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140696" y="314553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140696" y="314553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469880" y="314553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69880" y="314553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799063" y="314553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799063" y="314553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48640" y="3410712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48640" y="3410712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7</a:t>
            </a:r>
          </a:p>
        </p:txBody>
      </p:sp>
      <p:sp>
        <p:nvSpPr>
          <p:cNvPr id="156" name="Oval 155"/>
          <p:cNvSpPr/>
          <p:nvPr/>
        </p:nvSpPr>
        <p:spPr>
          <a:xfrm>
            <a:off x="1024128" y="342900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primeiroma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336" y="3449208"/>
            <a:ext cx="197327" cy="197327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371600" y="3410712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Estrela 1.º de Maio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89120" y="341071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956048" y="341071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22976" y="341071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89904" y="341071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656832" y="341071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5200" y="341071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973568" y="3410712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+1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59368" y="3410712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7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482328" y="344728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482328" y="344728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811511" y="344728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811511" y="344728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140696" y="344728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140696" y="344728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469880" y="344728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469880" y="344728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799063" y="344728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799063" y="344728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8640" y="3712464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48640" y="3712464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8</a:t>
            </a:r>
          </a:p>
        </p:txBody>
      </p:sp>
      <p:sp>
        <p:nvSpPr>
          <p:cNvPr id="179" name="Oval 178"/>
          <p:cNvSpPr/>
          <p:nvPr/>
        </p:nvSpPr>
        <p:spPr>
          <a:xfrm>
            <a:off x="1024128" y="373075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336" y="3750960"/>
            <a:ext cx="197327" cy="197327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371600" y="3712464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Recreativo do Libolo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89120" y="371246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956048" y="371246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522976" y="371246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089904" y="371246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656832" y="371246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315200" y="371246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973568" y="3712464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659368" y="3712464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6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482328" y="374904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482328" y="374904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811511" y="374904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811511" y="374904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140696" y="374904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140696" y="374904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469880" y="374904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469880" y="374904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0799063" y="374904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799063" y="374904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4014216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4014216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9</a:t>
            </a:r>
          </a:p>
        </p:txBody>
      </p:sp>
      <p:sp>
        <p:nvSpPr>
          <p:cNvPr id="202" name="Oval 201"/>
          <p:cNvSpPr/>
          <p:nvPr/>
        </p:nvSpPr>
        <p:spPr>
          <a:xfrm>
            <a:off x="1024128" y="403250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3" name="Picture 202" descr="kabuscor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336" y="4052712"/>
            <a:ext cx="197327" cy="197327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371600" y="4014216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Kabuscorp SC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389120" y="401421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956048" y="401421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22976" y="401421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089904" y="401421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56832" y="401421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315200" y="401421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973568" y="4014216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659368" y="4014216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5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482328" y="405079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482328" y="405079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811511" y="405079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811511" y="405079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0140696" y="405079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140696" y="405079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469880" y="405079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469880" y="405079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48640" y="4315968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48640" y="4315968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10</a:t>
            </a:r>
          </a:p>
        </p:txBody>
      </p:sp>
      <p:sp>
        <p:nvSpPr>
          <p:cNvPr id="223" name="Oval 222"/>
          <p:cNvSpPr/>
          <p:nvPr/>
        </p:nvSpPr>
        <p:spPr>
          <a:xfrm>
            <a:off x="1024128" y="433425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4" name="Picture 223" descr="lundasul-official-202608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336" y="4354464"/>
            <a:ext cx="197327" cy="197327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1371600" y="4315968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Desportivo da Lunda Sul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389120" y="431596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956048" y="431596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522976" y="431596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089904" y="431596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656832" y="431596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315200" y="431596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973568" y="4315968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659368" y="4315968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5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9482328" y="435254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482328" y="435254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811511" y="435254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811511" y="435254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0140696" y="435254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140696" y="435254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0469880" y="435254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469880" y="435254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0799063" y="435254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799063" y="435254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48640" y="4617720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48640" y="4617720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11</a:t>
            </a:r>
          </a:p>
        </p:txBody>
      </p:sp>
      <p:sp>
        <p:nvSpPr>
          <p:cNvPr id="246" name="Oval 245"/>
          <p:cNvSpPr/>
          <p:nvPr/>
        </p:nvSpPr>
        <p:spPr>
          <a:xfrm>
            <a:off x="1024128" y="463600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7" name="Picture 246" descr="caala-official-202608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336" y="4656216"/>
            <a:ext cx="197327" cy="197327"/>
          </a:xfrm>
          <a:prstGeom prst="rect">
            <a:avLst/>
          </a:prstGeom>
        </p:spPr>
      </p:pic>
      <p:sp>
        <p:nvSpPr>
          <p:cNvPr id="248" name="TextBox 247"/>
          <p:cNvSpPr txBox="1"/>
          <p:nvPr/>
        </p:nvSpPr>
        <p:spPr>
          <a:xfrm>
            <a:off x="1371600" y="461772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 Caála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89120" y="461772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956048" y="461772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522976" y="461772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089904" y="461772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656832" y="461772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315200" y="461772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7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973568" y="4617720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659368" y="4617720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4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9482328" y="465429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482328" y="465429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9811511" y="465429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811511" y="465429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10140696" y="465429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140696" y="465429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0469880" y="465429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469880" y="465429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0799063" y="465429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799063" y="465429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548640" y="4919472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548640" y="4919472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12</a:t>
            </a:r>
          </a:p>
        </p:txBody>
      </p:sp>
      <p:sp>
        <p:nvSpPr>
          <p:cNvPr id="269" name="Oval 268"/>
          <p:cNvSpPr/>
          <p:nvPr/>
        </p:nvSpPr>
        <p:spPr>
          <a:xfrm>
            <a:off x="1024128" y="4937760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0" name="Picture 269" descr="fcluan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336" y="4957968"/>
            <a:ext cx="197327" cy="197327"/>
          </a:xfrm>
          <a:prstGeom prst="rect">
            <a:avLst/>
          </a:prstGeom>
        </p:spPr>
      </p:pic>
      <p:sp>
        <p:nvSpPr>
          <p:cNvPr id="271" name="TextBox 270"/>
          <p:cNvSpPr txBox="1"/>
          <p:nvPr/>
        </p:nvSpPr>
        <p:spPr>
          <a:xfrm>
            <a:off x="1371600" y="4919472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FC Luanda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389120" y="491947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956048" y="491947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522976" y="491947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089904" y="4919472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656832" y="491947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315200" y="4919472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8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7973568" y="4919472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-3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659368" y="4919472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4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9482328" y="495604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482328" y="495604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9811511" y="495604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811511" y="495604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0140696" y="495604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0140696" y="495604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10469880" y="495604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469880" y="495604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0799063" y="4956048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0799063" y="4956048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548640" y="5221224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548640" y="5221224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13</a:t>
            </a:r>
          </a:p>
        </p:txBody>
      </p:sp>
      <p:sp>
        <p:nvSpPr>
          <p:cNvPr id="292" name="Oval 291"/>
          <p:cNvSpPr/>
          <p:nvPr/>
        </p:nvSpPr>
        <p:spPr>
          <a:xfrm>
            <a:off x="1024128" y="52395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3" name="Picture 292" descr="saosalva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336" y="5259720"/>
            <a:ext cx="197327" cy="197327"/>
          </a:xfrm>
          <a:prstGeom prst="rect">
            <a:avLst/>
          </a:prstGeom>
        </p:spPr>
      </p:pic>
      <p:sp>
        <p:nvSpPr>
          <p:cNvPr id="294" name="TextBox 293"/>
          <p:cNvSpPr txBox="1"/>
          <p:nvPr/>
        </p:nvSpPr>
        <p:spPr>
          <a:xfrm>
            <a:off x="1371600" y="5221224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São Salvador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389120" y="522122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956048" y="522122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522976" y="522122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089904" y="5221224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656832" y="522122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315200" y="5221224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973568" y="5221224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-3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8659368" y="5221224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4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9482328" y="525780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9482328" y="525780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9811511" y="525780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9811511" y="525780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10140696" y="525780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0140696" y="525780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10469880" y="525780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0469880" y="525780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10799063" y="5257800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799063" y="5257800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48640" y="5522976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548640" y="5522976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14</a:t>
            </a:r>
          </a:p>
        </p:txBody>
      </p:sp>
      <p:sp>
        <p:nvSpPr>
          <p:cNvPr id="315" name="Oval 314"/>
          <p:cNvSpPr/>
          <p:nvPr/>
        </p:nvSpPr>
        <p:spPr>
          <a:xfrm>
            <a:off x="1024128" y="554126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6" name="Picture 315" descr="sagrad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336" y="5561472"/>
            <a:ext cx="197327" cy="197327"/>
          </a:xfrm>
          <a:prstGeom prst="rect">
            <a:avLst/>
          </a:prstGeom>
        </p:spPr>
      </p:pic>
      <p:sp>
        <p:nvSpPr>
          <p:cNvPr id="317" name="TextBox 316"/>
          <p:cNvSpPr txBox="1"/>
          <p:nvPr/>
        </p:nvSpPr>
        <p:spPr>
          <a:xfrm>
            <a:off x="1371600" y="5522976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Sagrada Esperança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389120" y="552297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4956048" y="552297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5522976" y="552297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089904" y="5522976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6656832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4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7315200" y="5522976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6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73568" y="5522976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-2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8659368" y="5522976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3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9482328" y="555955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9482328" y="555955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9811511" y="555955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18B66A"/>
          </a:solidFill>
          <a:ln w="6350">
            <a:solidFill>
              <a:srgbClr val="18B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9811511" y="555955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10140696" y="5559552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0140696" y="5559552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548640" y="5824728"/>
            <a:ext cx="11091672" cy="274320"/>
          </a:xfrm>
          <a:prstGeom prst="rect">
            <a:avLst/>
          </a:prstGeom>
          <a:solidFill>
            <a:srgbClr val="0C2639"/>
          </a:solidFill>
          <a:ln w="12700">
            <a:solidFill>
              <a:srgbClr val="0C2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548640" y="5824728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15</a:t>
            </a:r>
          </a:p>
        </p:txBody>
      </p:sp>
      <p:sp>
        <p:nvSpPr>
          <p:cNvPr id="334" name="Oval 333"/>
          <p:cNvSpPr/>
          <p:nvPr/>
        </p:nvSpPr>
        <p:spPr>
          <a:xfrm>
            <a:off x="1024128" y="5843016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5" name="Picture 334" descr="cabinda-official-202608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4336" y="5863224"/>
            <a:ext cx="197327" cy="197327"/>
          </a:xfrm>
          <a:prstGeom prst="rect">
            <a:avLst/>
          </a:prstGeom>
        </p:spPr>
      </p:pic>
      <p:sp>
        <p:nvSpPr>
          <p:cNvPr id="336" name="TextBox 335"/>
          <p:cNvSpPr txBox="1"/>
          <p:nvPr/>
        </p:nvSpPr>
        <p:spPr>
          <a:xfrm>
            <a:off x="1371600" y="5824728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FC Cabinda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389120" y="582472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956048" y="582472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522976" y="582472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89904" y="5824728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656832" y="582472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7315200" y="5824728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973568" y="5824728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-5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659368" y="5824728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9482328" y="586130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9482328" y="586130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9811511" y="586130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811511" y="586130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10140696" y="586130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10140696" y="586130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10469880" y="586130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0469880" y="586130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10799063" y="5861304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6B7F93"/>
          </a:solidFill>
          <a:ln w="6350">
            <a:solidFill>
              <a:srgbClr val="6B7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0799063" y="5861304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548640" y="6126480"/>
            <a:ext cx="4114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5E0EA"/>
                </a:solidFill>
                <a:latin typeface="Calibri"/>
              </a:rPr>
              <a:t>16</a:t>
            </a:r>
          </a:p>
        </p:txBody>
      </p:sp>
      <p:sp>
        <p:nvSpPr>
          <p:cNvPr id="357" name="Oval 356"/>
          <p:cNvSpPr/>
          <p:nvPr/>
        </p:nvSpPr>
        <p:spPr>
          <a:xfrm>
            <a:off x="1024128" y="6144768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8" name="Picture 357" descr="lobit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336" y="6164976"/>
            <a:ext cx="197327" cy="197327"/>
          </a:xfrm>
          <a:prstGeom prst="rect">
            <a:avLst/>
          </a:prstGeom>
        </p:spPr>
      </p:pic>
      <p:sp>
        <p:nvSpPr>
          <p:cNvPr id="359" name="TextBox 358"/>
          <p:cNvSpPr txBox="1"/>
          <p:nvPr/>
        </p:nvSpPr>
        <p:spPr>
          <a:xfrm>
            <a:off x="1371600" y="61264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Académica do Lobito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389120" y="612648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956048" y="612648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5522976" y="612648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6089904" y="6126480"/>
            <a:ext cx="56692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5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656832" y="612648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0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7315200" y="6126480"/>
            <a:ext cx="6583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9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7973568" y="6126480"/>
            <a:ext cx="6858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D5E0EA"/>
                </a:solidFill>
                <a:latin typeface="Calibri"/>
              </a:rPr>
              <a:t>-9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8659368" y="6126480"/>
            <a:ext cx="7772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0</a:t>
            </a:r>
          </a:p>
        </p:txBody>
      </p:sp>
      <p:sp>
        <p:nvSpPr>
          <p:cNvPr id="368" name="Rounded Rectangle 367"/>
          <p:cNvSpPr/>
          <p:nvPr/>
        </p:nvSpPr>
        <p:spPr>
          <a:xfrm>
            <a:off x="9482328" y="616305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9482328" y="616305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9811511" y="616305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9811511" y="616305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10140696" y="616305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0140696" y="616305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74" name="Rounded Rectangle 373"/>
          <p:cNvSpPr/>
          <p:nvPr/>
        </p:nvSpPr>
        <p:spPr>
          <a:xfrm>
            <a:off x="10469880" y="616305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0469880" y="616305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10799063" y="6163056"/>
            <a:ext cx="256032" cy="192024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635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10799063" y="6163056"/>
            <a:ext cx="256032" cy="1920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ATAQUE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Produtividade ofensiva por equipa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00" b="0" i="1">
                <a:solidFill>
                  <a:srgbClr val="8FA6BC"/>
                </a:solidFill>
                <a:latin typeface="Calibri"/>
              </a:rPr>
              <a:t>82 golos em 38 jogos na época · média 2,16 por jogo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Leitura ofensiva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1051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75319" y="199339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81" y="2049353"/>
            <a:ext cx="546445" cy="5464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79992" y="192024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F2C94C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59" y="194767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Melhor ataque: Wiliete 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248716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2,4 golos por jogo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275319" y="318211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81" y="3238073"/>
            <a:ext cx="546445" cy="5464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79992" y="310896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F2C94C"/>
                </a:solidFill>
                <a:latin typeface="Calibri"/>
              </a:rPr>
              <a:t>1,50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13639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Média de Petro de Luanda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67588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6 golos em apenas 4 jogos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18795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75319" y="437083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a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81" y="4426793"/>
            <a:ext cx="546445" cy="5464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79992" y="429768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18B66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9" y="432511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Dagó Tshibamba lidera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486460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5 golos em 5 jogos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37667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275319" y="555955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bi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81" y="5615513"/>
            <a:ext cx="546445" cy="54644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79992" y="548640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E63946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59" y="551383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Ataque em branco: Académica Lobito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605332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sem golos em 5 jogos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DEFESA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Consistência defensiva: golos sofridos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73952"/>
            <a:ext cx="414223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00" b="0" i="1">
                <a:solidFill>
                  <a:srgbClr val="8FA6BC"/>
                </a:solidFill>
                <a:latin typeface="Calibri"/>
              </a:rPr>
              <a:t>Só Petro de Luanda e Wiliete SC sofreram menos de 2 golos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Leitura defensiva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1051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75319" y="199339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e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81" y="2049353"/>
            <a:ext cx="546445" cy="5464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79992" y="192024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F2C94C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59" y="194767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Baliza inviolada: Petro de Luanda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248716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4 jogos sem sofrer golos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99923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275319" y="318211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81" y="3238073"/>
            <a:ext cx="546445" cy="5464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79992" y="310896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F2C94C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13639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Wiliete: 1 golo sofrido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67588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4 jogos sem sofrer em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18795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75319" y="437083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v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81" y="4426793"/>
            <a:ext cx="546445" cy="5464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79992" y="429768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18B66A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9" y="432511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Bravos do Maquis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486460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0,4 golos sofridos por jogo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376672"/>
            <a:ext cx="3547872" cy="1024128"/>
          </a:xfrm>
          <a:prstGeom prst="roundRect">
            <a:avLst>
              <a:gd name="adj" fmla="val 7142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275319" y="5559552"/>
            <a:ext cx="658368" cy="6583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ibo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81" y="5615513"/>
            <a:ext cx="546445" cy="54644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79992" y="5486400"/>
            <a:ext cx="11430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200" b="1" i="0">
                <a:solidFill>
                  <a:srgbClr val="E63946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59" y="5513832"/>
            <a:ext cx="1307592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Mais batida: Rec. do Libolo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6053328"/>
            <a:ext cx="24048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50" b="0" i="0">
                <a:solidFill>
                  <a:srgbClr val="8FA6BC"/>
                </a:solidFill>
                <a:latin typeface="Calibri"/>
              </a:rPr>
              <a:t>2,0 sofridos por jogo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DISCIPLINA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Cartões amarelos e vermelhos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722376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1325880"/>
            <a:ext cx="3547872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Na 5.ª jornada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10512"/>
            <a:ext cx="1682496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321040" y="2011680"/>
            <a:ext cx="274320" cy="384048"/>
          </a:xfrm>
          <a:prstGeom prst="roundRect">
            <a:avLst>
              <a:gd name="adj" fmla="val 13000"/>
            </a:avLst>
          </a:prstGeom>
          <a:solidFill>
            <a:srgbClr val="F2C94C"/>
          </a:solidFill>
          <a:ln w="12700">
            <a:solidFill>
              <a:srgbClr val="F2C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19" y="1901952"/>
            <a:ext cx="914400" cy="60350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8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54203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D5E0EA"/>
                </a:solidFill>
                <a:latin typeface="Calibri"/>
              </a:rPr>
              <a:t>amarelos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57816" y="1810512"/>
            <a:ext cx="1682496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0186416" y="2011680"/>
            <a:ext cx="274320" cy="384048"/>
          </a:xfrm>
          <a:prstGeom prst="roundRect">
            <a:avLst>
              <a:gd name="adj" fmla="val 13000"/>
            </a:avLst>
          </a:prstGeom>
          <a:solidFill>
            <a:srgbClr val="E63946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97896" y="1901952"/>
            <a:ext cx="914400" cy="60350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800" b="1" i="0">
                <a:solidFill>
                  <a:srgbClr val="E63946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6416" y="2542032"/>
            <a:ext cx="14630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0" i="0">
                <a:solidFill>
                  <a:srgbClr val="D5E0EA"/>
                </a:solidFill>
                <a:latin typeface="Calibri"/>
              </a:rPr>
              <a:t>vermelhos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90672"/>
            <a:ext cx="3547872" cy="3264408"/>
          </a:xfrm>
          <a:prstGeom prst="roundRect">
            <a:avLst>
              <a:gd name="adj" fmla="val 224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9067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100" b="1" i="0">
                <a:solidFill>
                  <a:srgbClr val="8FA6BC"/>
                </a:solidFill>
                <a:latin typeface="Calibri"/>
              </a:rPr>
              <a:t>Cartões por jogo (amarelos · vermelhos)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352044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911" y="3545311"/>
            <a:ext cx="242864" cy="242864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659368" y="352044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cluan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239" y="3545311"/>
            <a:ext cx="242864" cy="2428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52560" y="352044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1.º de Agosto–FC Luanda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352044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00" b="1" i="0">
                <a:solidFill>
                  <a:srgbClr val="F2C94C"/>
                </a:solidFill>
                <a:latin typeface="Calibri"/>
              </a:rPr>
              <a:t>2</a:t>
            </a:r>
            <a:r>
              <a:rPr sz="1200" b="0" i="0">
                <a:solidFill>
                  <a:srgbClr val="8FA6BC"/>
                </a:solidFill>
                <a:latin typeface="Calibri"/>
              </a:rPr>
              <a:t> · </a:t>
            </a:r>
            <a:r>
              <a:rPr sz="1200" b="0" i="0">
                <a:solidFill>
                  <a:srgbClr val="8FA6BC"/>
                </a:solidFill>
                <a:latin typeface="Calibri"/>
              </a:rPr>
              <a:t>—</a:t>
            </a:r>
          </a:p>
        </p:txBody>
      </p:sp>
      <p:sp>
        <p:nvSpPr>
          <p:cNvPr id="24" name="Oval 23"/>
          <p:cNvSpPr/>
          <p:nvPr/>
        </p:nvSpPr>
        <p:spPr>
          <a:xfrm>
            <a:off x="8321040" y="388620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ala-official-20260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911" y="3911071"/>
            <a:ext cx="242864" cy="242864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659368" y="388620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av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4239" y="3911071"/>
            <a:ext cx="242864" cy="2428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52560" y="388620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CR Caála–Bravos do Maquis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388620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50" b="0" i="1">
                <a:solidFill>
                  <a:srgbClr val="8FA6BC"/>
                </a:solidFill>
                <a:latin typeface="Calibri"/>
              </a:rPr>
              <a:t>s/ ficha</a:t>
            </a:r>
          </a:p>
        </p:txBody>
      </p:sp>
      <p:sp>
        <p:nvSpPr>
          <p:cNvPr id="30" name="Oval 29"/>
          <p:cNvSpPr/>
          <p:nvPr/>
        </p:nvSpPr>
        <p:spPr>
          <a:xfrm>
            <a:off x="8321040" y="425196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kabuscor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5911" y="4276831"/>
            <a:ext cx="242864" cy="242864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659368" y="425196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ntercl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4239" y="4276831"/>
            <a:ext cx="242864" cy="2428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52560" y="425196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Kabuscorp–Interclube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88752" y="425196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50" b="0" i="1">
                <a:solidFill>
                  <a:srgbClr val="8FA6BC"/>
                </a:solidFill>
                <a:latin typeface="Calibri"/>
              </a:rPr>
              <a:t>s/ ficha</a:t>
            </a:r>
          </a:p>
        </p:txBody>
      </p:sp>
      <p:sp>
        <p:nvSpPr>
          <p:cNvPr id="36" name="Oval 35"/>
          <p:cNvSpPr/>
          <p:nvPr/>
        </p:nvSpPr>
        <p:spPr>
          <a:xfrm>
            <a:off x="8321040" y="461772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aosalvad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5911" y="4642591"/>
            <a:ext cx="242864" cy="242864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8659368" y="461772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abinda-official-202608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4239" y="4642591"/>
            <a:ext cx="242864" cy="2428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52560" y="461772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São Salvador–FC Cabinda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461772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50" b="0" i="1">
                <a:solidFill>
                  <a:srgbClr val="8FA6BC"/>
                </a:solidFill>
                <a:latin typeface="Calibri"/>
              </a:rPr>
              <a:t>s/ ficha</a:t>
            </a:r>
          </a:p>
        </p:txBody>
      </p:sp>
      <p:sp>
        <p:nvSpPr>
          <p:cNvPr id="42" name="Oval 41"/>
          <p:cNvSpPr/>
          <p:nvPr/>
        </p:nvSpPr>
        <p:spPr>
          <a:xfrm>
            <a:off x="8321040" y="498348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desphuil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5911" y="5008351"/>
            <a:ext cx="242864" cy="242864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8659368" y="498348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lobit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4239" y="5008351"/>
            <a:ext cx="242864" cy="2428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52560" y="498348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Desp. da Huíla–Académica Lobito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88752" y="498348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50" b="0" i="1">
                <a:solidFill>
                  <a:srgbClr val="8FA6BC"/>
                </a:solidFill>
                <a:latin typeface="Calibri"/>
              </a:rPr>
              <a:t>s/ ficha</a:t>
            </a:r>
          </a:p>
        </p:txBody>
      </p:sp>
      <p:sp>
        <p:nvSpPr>
          <p:cNvPr id="48" name="Oval 47"/>
          <p:cNvSpPr/>
          <p:nvPr/>
        </p:nvSpPr>
        <p:spPr>
          <a:xfrm>
            <a:off x="8321040" y="534924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wilie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5911" y="5374111"/>
            <a:ext cx="242864" cy="242864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8659368" y="534924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libol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84239" y="5374111"/>
            <a:ext cx="242864" cy="2428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052560" y="534924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Wiliete SC–Rec. do Libolo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88752" y="534924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50" b="0" i="1">
                <a:solidFill>
                  <a:srgbClr val="8FA6BC"/>
                </a:solidFill>
                <a:latin typeface="Calibri"/>
              </a:rPr>
              <a:t>s/ ficha</a:t>
            </a:r>
          </a:p>
        </p:txBody>
      </p:sp>
      <p:sp>
        <p:nvSpPr>
          <p:cNvPr id="54" name="Oval 53"/>
          <p:cNvSpPr/>
          <p:nvPr/>
        </p:nvSpPr>
        <p:spPr>
          <a:xfrm>
            <a:off x="8321040" y="571500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rimeiromai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5911" y="5739871"/>
            <a:ext cx="242864" cy="242864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8659368" y="571500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lundasul-official-202608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4239" y="5739871"/>
            <a:ext cx="242864" cy="24286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052560" y="5715000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FFFFFF"/>
                </a:solidFill>
                <a:latin typeface="Calibri"/>
              </a:rPr>
              <a:t>Estrela 1.º Maio–Desp. Lunda Sul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88752" y="5715000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1200" b="0" i="0">
                <a:solidFill>
                  <a:srgbClr val="8FA6BC"/>
                </a:solidFill>
                <a:latin typeface="Calibri"/>
              </a:rPr>
              <a:t>—</a:t>
            </a:r>
            <a:r>
              <a:rPr sz="1200" b="0" i="0">
                <a:solidFill>
                  <a:srgbClr val="8FA6BC"/>
                </a:solidFill>
                <a:latin typeface="Calibri"/>
              </a:rPr>
              <a:t> · </a:t>
            </a:r>
            <a:r>
              <a:rPr sz="1200" b="1" i="0">
                <a:solidFill>
                  <a:srgbClr val="E63946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6016752"/>
            <a:ext cx="30906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r>
              <a:rPr sz="900" b="0" i="1">
                <a:solidFill>
                  <a:srgbClr val="8FA6BC"/>
                </a:solidFill>
                <a:latin typeface="Calibri"/>
              </a:rPr>
              <a:t>Cinco dos sete jogos ainda sem ficha de estatísticas; os totais da jornada estão incompletos.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MARCADORES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Melhores marcadores da época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1.º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1463040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30" y="1505010"/>
            <a:ext cx="409834" cy="409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1426464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Dagó Tshibamba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CD 1.º de Agosto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26464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664208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84832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2176272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2.º</a:t>
            </a:r>
          </a:p>
        </p:txBody>
      </p:sp>
      <p:sp>
        <p:nvSpPr>
          <p:cNvPr id="16" name="Oval 15"/>
          <p:cNvSpPr/>
          <p:nvPr/>
        </p:nvSpPr>
        <p:spPr>
          <a:xfrm>
            <a:off x="1280160" y="2176272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130" y="2218242"/>
            <a:ext cx="409834" cy="4098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2139696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Mabululu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432304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Wiliete de Benguela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39696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79" y="2377440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98064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2889504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3.º</a:t>
            </a:r>
          </a:p>
        </p:txBody>
      </p:sp>
      <p:sp>
        <p:nvSpPr>
          <p:cNvPr id="24" name="Oval 23"/>
          <p:cNvSpPr/>
          <p:nvPr/>
        </p:nvSpPr>
        <p:spPr>
          <a:xfrm>
            <a:off x="1280160" y="2889504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130" y="2931474"/>
            <a:ext cx="409834" cy="4098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74519" y="2852928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Lito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3145536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Bravos do Maquis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852928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79" y="3090672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11296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3602736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32" name="Oval 31"/>
          <p:cNvSpPr/>
          <p:nvPr/>
        </p:nvSpPr>
        <p:spPr>
          <a:xfrm>
            <a:off x="1280160" y="3602736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30" y="3644706"/>
            <a:ext cx="409834" cy="4098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74519" y="3566160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Axel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3858768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CD 1.º de Agosto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566160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3803904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24528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40" name="Oval 39"/>
          <p:cNvSpPr/>
          <p:nvPr/>
        </p:nvSpPr>
        <p:spPr>
          <a:xfrm>
            <a:off x="1280160" y="4315968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aala-official-20260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130" y="4357938"/>
            <a:ext cx="409834" cy="4098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874519" y="4279392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Benvindo Afonso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4572000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CR Caála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279392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79" y="4517136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937760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48" name="Oval 47"/>
          <p:cNvSpPr/>
          <p:nvPr/>
        </p:nvSpPr>
        <p:spPr>
          <a:xfrm>
            <a:off x="1280160" y="5029200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cluan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2130" y="5071170"/>
            <a:ext cx="409834" cy="4098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874519" y="4992624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Jaime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19" y="5285232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FC Luanda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4992624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79" y="5230368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650992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1520" y="5742431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56" name="Oval 55"/>
          <p:cNvSpPr/>
          <p:nvPr/>
        </p:nvSpPr>
        <p:spPr>
          <a:xfrm>
            <a:off x="1280160" y="5742431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ra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130" y="5784402"/>
            <a:ext cx="409834" cy="40983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74519" y="5705855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Ju Cabral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4519" y="5998464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Bravos do Maquis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0" y="5705855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0679" y="5943600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1371600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00800" y="1463040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64" name="Oval 63"/>
          <p:cNvSpPr/>
          <p:nvPr/>
        </p:nvSpPr>
        <p:spPr>
          <a:xfrm>
            <a:off x="6949440" y="1463040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cabinda-official-20260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410" y="1505010"/>
            <a:ext cx="409834" cy="40983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543800" y="1426464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Luyeye Tomás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3800" y="1719072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FC Cabinda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1426464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59" y="1664208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2084832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400800" y="2176272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72" name="Oval 71"/>
          <p:cNvSpPr/>
          <p:nvPr/>
        </p:nvSpPr>
        <p:spPr>
          <a:xfrm>
            <a:off x="6949440" y="2176272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desphuil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410" y="2218242"/>
            <a:ext cx="409834" cy="40983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543800" y="2139696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Milagre Carlos Simba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43800" y="2432304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Desportivo da Huíla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2139696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09959" y="2377440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2798064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400800" y="2889504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80" name="Oval 79"/>
          <p:cNvSpPr/>
          <p:nvPr/>
        </p:nvSpPr>
        <p:spPr>
          <a:xfrm>
            <a:off x="6949440" y="2889504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410" y="2931474"/>
            <a:ext cx="409834" cy="40983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543800" y="2852928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Ning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43800" y="3145536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Wiliete de Benguela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2852928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09959" y="3090672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3511296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400800" y="3602736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88" name="Oval 87"/>
          <p:cNvSpPr/>
          <p:nvPr/>
        </p:nvSpPr>
        <p:spPr>
          <a:xfrm>
            <a:off x="6949440" y="3602736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libol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410" y="3644706"/>
            <a:ext cx="409834" cy="40983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543800" y="3566160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Pedro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3858768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Recreativo do Libolo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0" y="3566160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09959" y="3803904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17920" y="4224528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400800" y="4315968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96" name="Oval 95"/>
          <p:cNvSpPr/>
          <p:nvPr/>
        </p:nvSpPr>
        <p:spPr>
          <a:xfrm>
            <a:off x="6949440" y="4315968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pet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1410" y="4357938"/>
            <a:ext cx="409834" cy="40983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543800" y="4279392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Tiago Azulão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43800" y="4572000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Petro de Luanda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0" y="4279392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09959" y="4517136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4937760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400800" y="5029200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104" name="Oval 103"/>
          <p:cNvSpPr/>
          <p:nvPr/>
        </p:nvSpPr>
        <p:spPr>
          <a:xfrm>
            <a:off x="6949440" y="5029200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caala-official-20260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410" y="5071170"/>
            <a:ext cx="409834" cy="409834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543800" y="4992624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Valegol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43800" y="5285232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CR Caála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15600" y="4992624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09959" y="5230368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17920" y="5650992"/>
            <a:ext cx="5440680" cy="676656"/>
          </a:xfrm>
          <a:prstGeom prst="roundRect">
            <a:avLst>
              <a:gd name="adj" fmla="val 10810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6400800" y="5742431"/>
            <a:ext cx="502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600" b="1" i="0">
                <a:solidFill>
                  <a:srgbClr val="8FA6BC"/>
                </a:solidFill>
                <a:latin typeface="Calibri"/>
              </a:rPr>
              <a:t>4.º</a:t>
            </a:r>
          </a:p>
        </p:txBody>
      </p:sp>
      <p:sp>
        <p:nvSpPr>
          <p:cNvPr id="112" name="Oval 111"/>
          <p:cNvSpPr/>
          <p:nvPr/>
        </p:nvSpPr>
        <p:spPr>
          <a:xfrm>
            <a:off x="6949440" y="5742431"/>
            <a:ext cx="493776" cy="4937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410" y="5784402"/>
            <a:ext cx="409834" cy="409834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7543800" y="5705855"/>
            <a:ext cx="3017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Calibri"/>
              </a:rPr>
              <a:t>Walter Monteiro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43800" y="5998464"/>
            <a:ext cx="30175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Wiliete de Benguela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15600" y="5705855"/>
            <a:ext cx="54864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2C94C"/>
                </a:solidFill>
                <a:latin typeface="Calibr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09959" y="5943600"/>
            <a:ext cx="41148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50" b="0" i="0">
                <a:solidFill>
                  <a:srgbClr val="8FA6BC"/>
                </a:solidFill>
                <a:latin typeface="Calibri"/>
              </a:rPr>
              <a:t>golos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200" b="1" i="0" spc="200">
                <a:solidFill>
                  <a:srgbClr val="F2C94C"/>
                </a:solidFill>
                <a:latin typeface="Calibri"/>
              </a:rPr>
              <a:t>ANTEVISÃO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93268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Próximos confrontos: 6.ª jornada</a:t>
            </a:r>
          </a:p>
        </p:txBody>
      </p:sp>
      <p:pic>
        <p:nvPicPr>
          <p:cNvPr id="4" name="Picture 3" descr="logo-girabola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84048"/>
            <a:ext cx="1600200" cy="521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900" b="0" i="0">
                <a:solidFill>
                  <a:srgbClr val="8FA6BC"/>
                </a:solidFill>
                <a:latin typeface="Calibri"/>
              </a:rPr>
              <a:t>Fonte: Relatórios do Árbitro (FCMS) e calendário oficial ANCAF · dados atualizados a 21/09/2026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abusco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08" y="1584380"/>
            <a:ext cx="470550" cy="47055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273552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li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740" y="1584380"/>
            <a:ext cx="470550" cy="470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19" y="1499616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Kabuscorp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28800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9.º lugar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1609344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1499616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Wiliete 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828800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1.º lugar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76272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Sexta 09/10 · 15:00 · Estádio dos Coqueiros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17627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176272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TV · Zsports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00800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988" y="1584380"/>
            <a:ext cx="470550" cy="47055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8942832" y="1536192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ala-official-20260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020" y="1584380"/>
            <a:ext cx="470550" cy="470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86600" y="1499616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Petro de Luanda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828800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4.º lugar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1609344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1499616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CR Caála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1828800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11.º lugar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76272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Sexta 09/10 · 17:00 · Estádio 11 de Novembro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217627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176272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TV · Zsports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633472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31520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undasul-official-202608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708" y="2846252"/>
            <a:ext cx="470550" cy="47055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3273552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binda-official-20260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1740" y="2846252"/>
            <a:ext cx="470550" cy="470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19" y="2761488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Desp. Lunda Sul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19" y="3090672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10.º lugar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2" y="2871215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0208" y="2761488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FC Cabinda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3090672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15.º lugar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3438144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Sábado 10/10 · 15:00 · Estádio do Sagrada Esperança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46320" y="3438144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3438144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633472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400800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ntercl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988" y="2846252"/>
            <a:ext cx="470550" cy="470550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8942832" y="2798064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agrad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1020" y="2846252"/>
            <a:ext cx="470550" cy="470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86600" y="2761488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Interclube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090672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5.º lugar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77072" y="2871215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9488" y="2761488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Sagrada Esperança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19488" y="3090672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14.º lugar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438144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Sábado 10/10 · 16:00 · Estádio 22 de Junho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343814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0" y="3438144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TV · Zsports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3895344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731520" y="4059935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lobi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708" y="4108124"/>
            <a:ext cx="470550" cy="470550"/>
          </a:xfrm>
          <a:prstGeom prst="rect">
            <a:avLst/>
          </a:prstGeom>
        </p:spPr>
      </p:pic>
      <p:sp>
        <p:nvSpPr>
          <p:cNvPr id="61" name="Oval 60"/>
          <p:cNvSpPr/>
          <p:nvPr/>
        </p:nvSpPr>
        <p:spPr>
          <a:xfrm>
            <a:off x="3273552" y="4059935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da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1740" y="4108124"/>
            <a:ext cx="470550" cy="4705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17319" y="4023359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Académica Lobito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7319" y="4352544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16.º lugar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07792" y="4133087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50208" y="4023359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1.º de Agosto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50208" y="4352544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2.º lugar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700016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Domingo 11/10 · 15:00 · Estádio do Buraco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46320" y="470001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878C9"/>
          </a:solidFill>
          <a:ln w="6350">
            <a:solidFill>
              <a:srgbClr val="08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4700016"/>
            <a:ext cx="96012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TV · Zsports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3895344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6400800" y="4059935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primeiromai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988" y="4108124"/>
            <a:ext cx="470550" cy="470550"/>
          </a:xfrm>
          <a:prstGeom prst="rect">
            <a:avLst/>
          </a:prstGeom>
        </p:spPr>
      </p:pic>
      <p:sp>
        <p:nvSpPr>
          <p:cNvPr id="74" name="Oval 73"/>
          <p:cNvSpPr/>
          <p:nvPr/>
        </p:nvSpPr>
        <p:spPr>
          <a:xfrm>
            <a:off x="8942832" y="4059935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rav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1020" y="4108124"/>
            <a:ext cx="470550" cy="4705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086600" y="4023359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Estrela 1.º Maio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600" y="4352544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7.º lugar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4133087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19488" y="4023359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Bravos do Maquis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19488" y="4352544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3.º lugar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700016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Domingo 11/10 · 15:00 · Estádio de São Filipe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15600" y="4700016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15600" y="4700016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157216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31520" y="5321807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fcluand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9708" y="5369996"/>
            <a:ext cx="470550" cy="470550"/>
          </a:xfrm>
          <a:prstGeom prst="rect">
            <a:avLst/>
          </a:prstGeom>
        </p:spPr>
      </p:pic>
      <p:sp>
        <p:nvSpPr>
          <p:cNvPr id="87" name="Oval 86"/>
          <p:cNvSpPr/>
          <p:nvPr/>
        </p:nvSpPr>
        <p:spPr>
          <a:xfrm>
            <a:off x="3273552" y="5321807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libol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21740" y="5369996"/>
            <a:ext cx="470550" cy="47055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417319" y="5285231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FC Luanda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7319" y="5614416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12.º lugar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07792" y="5394959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50208" y="5285231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Rec. do Libolo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50208" y="5614416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8.º lugar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5961888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Domingo 11/10 · 15:00 · Estádio França N’dalu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846320" y="596188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5961888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17920" y="5157216"/>
            <a:ext cx="5440680" cy="1097280"/>
          </a:xfrm>
          <a:prstGeom prst="roundRect">
            <a:avLst>
              <a:gd name="adj" fmla="val 6666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6400800" y="5321807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desphuil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8988" y="5369996"/>
            <a:ext cx="470550" cy="470550"/>
          </a:xfrm>
          <a:prstGeom prst="rect">
            <a:avLst/>
          </a:prstGeom>
        </p:spPr>
      </p:pic>
      <p:sp>
        <p:nvSpPr>
          <p:cNvPr id="100" name="Oval 99"/>
          <p:cNvSpPr/>
          <p:nvPr/>
        </p:nvSpPr>
        <p:spPr>
          <a:xfrm>
            <a:off x="8942832" y="5321807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aosalvado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91020" y="5369996"/>
            <a:ext cx="470550" cy="47055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086600" y="5285231"/>
            <a:ext cx="150876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Desp. da Huíla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86600" y="5614416"/>
            <a:ext cx="146304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6.º lugar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77072" y="5394959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C94C"/>
                </a:solidFill>
                <a:latin typeface="Calibri"/>
              </a:rPr>
              <a:t>vs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19488" y="5285231"/>
            <a:ext cx="1920240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São Salvador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19488" y="5614416"/>
            <a:ext cx="18288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8FA6BC"/>
                </a:solidFill>
                <a:latin typeface="Calibri"/>
              </a:rPr>
              <a:t>13.º lugar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5961888"/>
            <a:ext cx="40233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r>
              <a:rPr sz="1000" b="0" i="0">
                <a:solidFill>
                  <a:srgbClr val="D5E0EA"/>
                </a:solidFill>
                <a:latin typeface="Calibri"/>
              </a:rPr>
              <a:t>Domingo 11/10 · 15:30 · Estádio da Tundavala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515600" y="596188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103048"/>
          </a:solidFill>
          <a:ln w="6350">
            <a:solidFill>
              <a:srgbClr val="10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515600" y="5961888"/>
            <a:ext cx="68580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Rádio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girabol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005840"/>
            <a:ext cx="137160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Segue-se a 6.ª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60152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D5E0EA"/>
                </a:solidFill>
                <a:latin typeface="Calibri"/>
              </a:rPr>
              <a:t>Sexta 9/10 a domingo 11/10 · Sagrada Esperança–Kabuscorp, da 3.ª jornada, joga-se a 23 de setembro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9848" y="4590288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C94C"/>
                </a:solidFill>
                <a:latin typeface="Calibri"/>
              </a:rPr>
              <a:t>Wiliete de Benguela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956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D5E0EA"/>
                </a:solidFill>
                <a:latin typeface="Calibri"/>
              </a:rPr>
              <a:t>lidera com 15 pontos em 5 jogos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81728" y="4590288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C94C"/>
                </a:solidFill>
                <a:latin typeface="Calibri"/>
              </a:rPr>
              <a:t>Petro de Luanda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956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D5E0EA"/>
                </a:solidFill>
                <a:latin typeface="Calibri"/>
              </a:rPr>
              <a:t>0 golos sofridos em 4 jogos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44805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0C2639"/>
          </a:solidFill>
          <a:ln w="6350">
            <a:solidFill>
              <a:srgbClr val="1C4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93608" y="4590288"/>
            <a:ext cx="283464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2C94C"/>
                </a:solidFill>
                <a:latin typeface="Calibri"/>
              </a:rPr>
              <a:t>Académica do Lobito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4956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D5E0EA"/>
                </a:solidFill>
                <a:latin typeface="Calibri"/>
              </a:rPr>
              <a:t>procura o primeiro golo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FA6BC"/>
                </a:solidFill>
                <a:latin typeface="Calibri"/>
              </a:rPr>
              <a:t>Liga Unitel Girabola 2026/2027 · análise preparada com dados dos registos oficiais de jogo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