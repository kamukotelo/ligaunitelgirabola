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Calibri"/>
              </a:rPr>
              <a:t>Golos marcados na época (jornadas 1–4)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Golos marcados</c:v>
                </c:pt>
              </c:strCache>
            </c:strRef>
          </c:tx>
          <c:spPr>
            <a:solidFill>
              <a:srgbClr val="F2C9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Académica Lobito (4 J)</c:v>
                  </c:pt>
                  <c:pt idx="1">
                    <c:v>São Salvador (3 J)</c:v>
                  </c:pt>
                  <c:pt idx="2">
                    <c:v>Kabuscorp (2 J)</c:v>
                  </c:pt>
                  <c:pt idx="3">
                    <c:v>FC Cabinda (4 J)</c:v>
                  </c:pt>
                  <c:pt idx="4">
                    <c:v>FC Luanda (4 J)</c:v>
                  </c:pt>
                  <c:pt idx="5">
                    <c:v>CR Caála (4 J)</c:v>
                  </c:pt>
                  <c:pt idx="6">
                    <c:v>Desp. Lunda Sul (4 J)</c:v>
                  </c:pt>
                  <c:pt idx="7">
                    <c:v>Desp. da Huíla (4 J)</c:v>
                  </c:pt>
                  <c:pt idx="8">
                    <c:v>Sagrada Esperança (3 J)</c:v>
                  </c:pt>
                  <c:pt idx="9">
                    <c:v>Bravos do Maquis (3 J)</c:v>
                  </c:pt>
                  <c:pt idx="10">
                    <c:v>Estrela 1.º Maio (4 J)</c:v>
                  </c:pt>
                  <c:pt idx="11">
                    <c:v>Rec. do Libolo (4 J)</c:v>
                  </c:pt>
                  <c:pt idx="12">
                    <c:v>Petro de Luanda (3 J)</c:v>
                  </c:pt>
                  <c:pt idx="13">
                    <c:v>Interclube (4 J)</c:v>
                  </c:pt>
                  <c:pt idx="14">
                    <c:v>1.º de Agosto (4 J)</c:v>
                  </c:pt>
                  <c:pt idx="15">
                    <c:v>Wiliete SC (4 J)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6</c:v>
                </c:pt>
                <c:pt idx="14">
                  <c:v>6</c:v>
                </c:pt>
                <c:pt idx="1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5E0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2639"/>
        </a:solidFill>
        <a:ln>
          <a:noFill/>
        </a:ln>
        <a:effectLst/>
      </c:spPr>
    </c:plotArea>
    <c:plotVisOnly val="1"/>
    <c:dispBlanksAs val="span"/>
  </c:chart>
  <c:spPr>
    <a:solidFill>
      <a:srgbClr val="0C263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Calibri"/>
              </a:rPr>
              <a:t>Golos sofridos na época (menos é melhor)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Golos sofridos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Académica Lobito (4 J)</c:v>
                  </c:pt>
                  <c:pt idx="1">
                    <c:v>FC Cabinda (4 J)</c:v>
                  </c:pt>
                  <c:pt idx="2">
                    <c:v>Sagrada Esperança (3 J)</c:v>
                  </c:pt>
                  <c:pt idx="3">
                    <c:v>FC Luanda (4 J)</c:v>
                  </c:pt>
                  <c:pt idx="4">
                    <c:v>CR Caála (4 J)</c:v>
                  </c:pt>
                  <c:pt idx="5">
                    <c:v>Estrela 1.º Maio (4 J)</c:v>
                  </c:pt>
                  <c:pt idx="6">
                    <c:v>Rec. do Libolo (4 J)</c:v>
                  </c:pt>
                  <c:pt idx="7">
                    <c:v>São Salvador (3 J)</c:v>
                  </c:pt>
                  <c:pt idx="8">
                    <c:v>Desp. Lunda Sul (4 J)</c:v>
                  </c:pt>
                  <c:pt idx="9">
                    <c:v>Desp. da Huíla (4 J)</c:v>
                  </c:pt>
                  <c:pt idx="10">
                    <c:v>Interclube (4 J)</c:v>
                  </c:pt>
                  <c:pt idx="11">
                    <c:v>1.º de Agosto (4 J)</c:v>
                  </c:pt>
                  <c:pt idx="12">
                    <c:v>Kabuscorp (2 J)</c:v>
                  </c:pt>
                  <c:pt idx="13">
                    <c:v>Bravos do Maquis (3 J)</c:v>
                  </c:pt>
                  <c:pt idx="14">
                    <c:v>Wiliete SC (4 J)</c:v>
                  </c:pt>
                  <c:pt idx="15">
                    <c:v>Petro de Luanda (3 J)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</c:v>
                </c:pt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5E0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2639"/>
        </a:solidFill>
        <a:ln>
          <a:noFill/>
        </a:ln>
        <a:effectLst/>
      </c:spPr>
    </c:plotArea>
    <c:plotVisOnly val="1"/>
    <c:dispBlanksAs val="span"/>
  </c:chart>
  <c:spPr>
    <a:solidFill>
      <a:srgbClr val="0C263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Calibri"/>
              </a:rPr>
              <a:t>Cartões na época: 96 amarelos e 1 vermelho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Amarelos</c:v>
                </c:pt>
              </c:strCache>
            </c:strRef>
          </c:tx>
          <c:spPr>
            <a:solidFill>
              <a:srgbClr val="F2C94C"/>
            </a:solidFill>
            <a:effectLst/>
          </c:spPr>
          <c:invertIfNegative val="0"/>
          <c:dLbls>
            <c:numFmt formatCode="#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A2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São Salvador</c:v>
                  </c:pt>
                  <c:pt idx="1">
                    <c:v>Wiliete SC</c:v>
                  </c:pt>
                  <c:pt idx="2">
                    <c:v>Académica Lobito</c:v>
                  </c:pt>
                  <c:pt idx="3">
                    <c:v>Rec. do Libolo</c:v>
                  </c:pt>
                  <c:pt idx="4">
                    <c:v>Bravos do Maquis</c:v>
                  </c:pt>
                  <c:pt idx="5">
                    <c:v>Interclube</c:v>
                  </c:pt>
                  <c:pt idx="6">
                    <c:v>Estrela 1.º Maio</c:v>
                  </c:pt>
                  <c:pt idx="7">
                    <c:v>Petro de Luanda</c:v>
                  </c:pt>
                  <c:pt idx="8">
                    <c:v>Kabuscorp</c:v>
                  </c:pt>
                  <c:pt idx="9">
                    <c:v>FC Luanda</c:v>
                  </c:pt>
                  <c:pt idx="10">
                    <c:v>Desp. da Huíla</c:v>
                  </c:pt>
                  <c:pt idx="11">
                    <c:v>Sagrada Esperança</c:v>
                  </c:pt>
                  <c:pt idx="12">
                    <c:v>CR Caála</c:v>
                  </c:pt>
                  <c:pt idx="13">
                    <c:v>1.º de Agosto</c:v>
                  </c:pt>
                  <c:pt idx="14">
                    <c:v>FC Cabinda</c:v>
                  </c:pt>
                  <c:pt idx="15">
                    <c:v>Desp. Lunda Sul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7</c:v>
                </c:pt>
                <c:pt idx="12">
                  <c:v>6</c:v>
                </c:pt>
                <c:pt idx="13">
                  <c:v>8</c:v>
                </c:pt>
                <c:pt idx="14">
                  <c:v>17</c:v>
                </c:pt>
                <c:pt idx="15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Vermelhos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A2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São Salvador</c:v>
                  </c:pt>
                  <c:pt idx="1">
                    <c:v>Wiliete SC</c:v>
                  </c:pt>
                  <c:pt idx="2">
                    <c:v>Académica Lobito</c:v>
                  </c:pt>
                  <c:pt idx="3">
                    <c:v>Rec. do Libolo</c:v>
                  </c:pt>
                  <c:pt idx="4">
                    <c:v>Bravos do Maquis</c:v>
                  </c:pt>
                  <c:pt idx="5">
                    <c:v>Interclube</c:v>
                  </c:pt>
                  <c:pt idx="6">
                    <c:v>Estrela 1.º Maio</c:v>
                  </c:pt>
                  <c:pt idx="7">
                    <c:v>Petro de Luanda</c:v>
                  </c:pt>
                  <c:pt idx="8">
                    <c:v>Kabuscorp</c:v>
                  </c:pt>
                  <c:pt idx="9">
                    <c:v>FC Luanda</c:v>
                  </c:pt>
                  <c:pt idx="10">
                    <c:v>Desp. da Huíla</c:v>
                  </c:pt>
                  <c:pt idx="11">
                    <c:v>Sagrada Esperança</c:v>
                  </c:pt>
                  <c:pt idx="12">
                    <c:v>CR Caála</c:v>
                  </c:pt>
                  <c:pt idx="13">
                    <c:v>1.º de Agosto</c:v>
                  </c:pt>
                  <c:pt idx="14">
                    <c:v>FC Cabinda</c:v>
                  </c:pt>
                  <c:pt idx="15">
                    <c:v>Desp. Lunda Sul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dLbls>
          <c:numFmt formatCode="#;;;" sourceLinked="0"/>
          <c:txPr>
            <a:bodyPr/>
            <a:lstStyle/>
            <a:p>
              <a:pPr>
                <a:defRPr b="1" i="0" strike="noStrike" sz="1100" u="none">
                  <a:solidFill>
                    <a:srgbClr val="071A2B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5E0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26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5E0E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C263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Todos os números saem dos registos oficiais de jogo da plataforma (Relatórios do Árbitro FCMS), atualizados a 15/09/2026.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dos 8 jogos realizados, 15 golos. Reviravoltas: Desp. Lunda Sul–Sagrada Esperança, Rec. do Libolo–Estrela 1.º Maio, CR Caála–Desp. da Huíla.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 Cabinda 1-1 CD 1.º de Agosto: Luyeye Tomás Tomás 25'; Axel Gaudêncio 46'
GD Interclube 2-0 Académica do Lobito: Patrick Banza 26'; Pedro Manuel 39'
Desportivo da Lunda Sul 2-1 Sagrada Esperança: Joaquim Teixeira 45'+4'; Felix Honjo 53'; Alexandre Abel Fernando 21'
Recreativo do Libolo 2-1 Estrela 1.º de Maio: Mestre Gui 17'; Pedro Mendes 38'; Tchutchu 7'
CR Caála 1-2 Desportivo da Huíla: Benvindo Miguel André Afonso 12'; Milagre Carlos Simba 52'; António Pena 90'+4'
Wiliete de Benguela 2-0 FC Luanda: Mabululu 31', 45'+6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4.ª jornada: Bravos do Maquis–Kabuscorp SC, quarta 16/09 15:00, Estádio Mundunduleno
4.ª jornada: São Salvador–Petro de Luanda, quarta 16/09 15:30, Estádio Álvaro Buta
3.ª jornada: Sagrada Esperança–Kabuscorp SC, quarta 23/09 15:00, Estádio do Sagrada Esperança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Wiliete de Benguela 12 pts (4 J, 7-1)
2. CD 1.º de Agosto 10 pts (4 J, 6-3)
3. GD Interclube 9 pts (4 J, 6-3)
4. Petro de Luanda 7 pts (3 J, 5-0)
5. Bravos do Maquis 6 pts (3 J, 4-1)
6. Recreativo do Libolo 6 pts (4 J, 5-5)
7. Desportivo da Huíla 6 pts (4 J, 4-4)
8. Desportivo da Lunda Sul 5 pts (4 J, 4-4)
9. Estrela 1.º de Maio 4 pts (4 J, 5-5)
10. CR Caála 4 pts (4 J, 4-5)
11. FC Luanda 4 pts (4 J, 3-5)
12. Sagrada Esperança 3 pts (3 J, 4-6)
13. São Salvador 3 pts (3 J, 2-4)
14. Kabuscorp SC 2 pts (2 J, 2-2)
15. FC Cabinda 1 pts (4 J, 3-8)
16. Académica do Lobito 0 pts (4 J, 0-8)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Wiliete de Benguela: 7 golos em 4 jogos (1,75/jogo)
CD 1.º de Agosto: 6 golos em 4 jogos (1,5/jogo)
GD Interclube: 6 golos em 4 jogos (1,5/jogo)
Petro de Luanda: 5 golos em 3 jogos (1,67/jogo)
Recreativo do Libolo: 5 golos em 4 jogos (1,25/jogo)
Estrela 1.º de Maio: 5 golos em 4 jogos (1,25/jogo)
Bravos do Maquis: 4 golos em 3 jogos (1,33/jogo)
Sagrada Esperança: 4 golos em 3 jogos (1,33/jogo)
Desportivo da Huíla: 4 golos em 4 jogos (1,0/jogo)
Desportivo da Lunda Sul: 4 golos em 4 jogos (1,0/jogo)
CR Caála: 4 golos em 4 jogos (1,0/jogo)
FC Luanda: 3 golos em 4 jogos (0,75/jogo)
FC Cabinda: 3 golos em 4 jogos (0,75/jogo)
Kabuscorp SC: 2 golos em 2 jogos (1,0/jogo)
São Salvador: 2 golos em 3 jogos (0,67/jogo)
Académica do Lobito: 0 golos em 4 jogos (0,0/jogo)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Petro de Luanda: 0 sofridos em 3 jogos, 3 jogos sem sofrer
Wiliete de Benguela: 1 sofridos em 4 jogos, 3 jogos sem sofrer
Bravos do Maquis: 1 sofridos em 3 jogos, 2 jogos sem sofrer
Kabuscorp SC: 2 sofridos em 2 jogos, 0 jogos sem sofrer
CD 1.º de Agosto: 3 sofridos em 4 jogos, 1 jogos sem sofrer
GD Interclube: 3 sofridos em 4 jogos, 2 jogos sem sofrer
Desportivo da Huíla: 4 sofridos em 4 jogos, 0 jogos sem sofrer
Desportivo da Lunda Sul: 4 sofridos em 4 jogos, 1 jogos sem sofrer
São Salvador: 4 sofridos em 3 jogos, 1 jogos sem sofrer
Recreativo do Libolo: 5 sofridos em 4 jogos, 1 jogos sem sofrer
Estrela 1.º de Maio: 5 sofridos em 4 jogos, 1 jogos sem sofrer
CR Caála: 5 sofridos em 4 jogos, 1 jogos sem sofrer
FC Luanda: 5 sofridos em 4 jogos, 1 jogos sem sofrer
Sagrada Esperança: 6 sofridos em 3 jogos, 0 jogos sem sofrer
FC Cabinda: 8 sofridos em 4 jogos, 0 jogos sem sofrer
Académica do Lobito: 8 sofridos em 4 jogos, 0 jogos sem sofrer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Desportivo da Lunda Sul: 21 amarelos, 0 vermelhos
FC Cabinda: 17 amarelos, 0 vermelhos
CD 1.º de Agosto: 8 amarelos, 0 vermelhos
CR Caála: 6 amarelos, 1 vermelhos
Sagrada Esperança: 7 amarelos, 0 vermelhos
Desportivo da Huíla: 6 amarelos, 0 vermelhos
FC Luanda: 6 amarelos, 0 vermelhos
Kabuscorp SC: 6 amarelos, 0 vermelhos
Petro de Luanda: 5 amarelos, 0 vermelhos
Estrela 1.º de Maio: 4 amarelos, 0 vermelhos
GD Interclube: 2 amarelos, 0 vermelhos
Bravos do Maquis: 2 amarelos, 0 vermelhos
Recreativo do Libolo: 2 amarelos, 0 vermelhos
Académica do Lobito: 2 amarelos, 0 vermelhos
Wiliete de Benguela: 1 amarelos, 0 vermelhos
São Salvador: 1 amarelos, 0 vermelhosVermelho na época: Valegol (CR Caála, 2.ª j.). Jornada 4: 21 amarelos, 0 vermelhos. Os amarelos incluem cartões a elementos técnicos quando constam do Relatório do Árbitro (ex.: treinador do Lunda Sul frente ao Sagrada).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Dagó Tshibamba (CD 1.º de Agosto): 3
Axel Gaudêncio (CD 1.º de Agosto): 2
Benvindo Miguel André Afonso (CR Caála): 2
Jaime Caetano (FC Luanda): 2
Luyeye Tomás Tomás (FC Cabinda): 2
Mabululu (Wiliete de Benguela): 2
Milagre Carlos Simba (Desportivo da Huíla): 2
Pedro Mendes (Recreativo do Libolo): 2
Tiago Azulão (Petro de Luanda):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sábado 19/09 15:30 · CD 1.º de Agosto–FC Luanda · Estádio França N’dalu · Zsports
domingo 20/09 15:00 · CR Caála–Bravos do Maquis · Estádio dos Mártires da Canhala
domingo 20/09 15:00 · Estrela 1.º de Maio–Desportivo da Lunda Sul · Estádio de São Filipe
domingo 20/09 15:00 · Kabuscorp SC–GD Interclube · Estádio França Ndalu · Zsports
domingo 20/09 15:00 · São Salvador–FC Cabinda · Estádio Álvaro Buta
domingo 20/09 15:30 · Sagrada Esperança–Petro de Luanda · Estádio do Sagrada Esperança
domingo 20/09 15:30 · Desportivo da Huíla–Académica do Lobito · Estádio da Tundavala
domingo 20/09 17:15 · Wiliete de Benguela–Recreativo do Libolo · Estádio Nacional de Ombaka · Zsports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image" Target="../media/image-8-8.png"/><Relationship Id="rId10" Type="http://schemas.openxmlformats.org/officeDocument/2006/relationships/image" Target="../media/image-8-9.png"/><Relationship Id="rId11" Type="http://schemas.openxmlformats.org/officeDocument/2006/relationships/image" Target="../media/image-8-10.png"/><Relationship Id="rId12" Type="http://schemas.openxmlformats.org/officeDocument/2006/relationships/image" Target="../media/image-8-11.png"/><Relationship Id="rId13" Type="http://schemas.openxmlformats.org/officeDocument/2006/relationships/image" Target="../media/image-8-12.png"/><Relationship Id="rId14" Type="http://schemas.openxmlformats.org/officeDocument/2006/relationships/image" Target="../media/image-8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143000" cy="12975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UNITEL GIRABOLA 2026/2027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4.ª Jornada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estatística: resultados, marcadores, classificação, ataque, defesa e disciplina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793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de quarta 9/09 a domingo 13/09 · 3 jogos por realizar · antevisão da 5.ª jornada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8" name="Image 1" descr="Emblema Wiliete de Bengu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5" y="5618805"/>
            <a:ext cx="430134" cy="43013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12626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0" name="Image 2" descr="Emblema CD 1.º de Agos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91" y="5618805"/>
            <a:ext cx="430134" cy="43013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093732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2" name="Image 3" descr="Emblema GD Intercl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697" y="5618805"/>
            <a:ext cx="430134" cy="43013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774838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4" name="Image 4" descr="Emblema Petro de Lua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803" y="5618805"/>
            <a:ext cx="430134" cy="43013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455944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6" name="Image 5" descr="Emblema Bravos do Maqu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6909" y="5618805"/>
            <a:ext cx="430134" cy="43013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137050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8" name="Image 6" descr="Emblema Recreativo do Libol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016" y="5618805"/>
            <a:ext cx="430134" cy="43013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4818156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0" name="Image 7" descr="Emblema Desportivo da Huí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9122" y="5618805"/>
            <a:ext cx="430134" cy="430134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499263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2" name="Image 8" descr="Emblema Desportivo da Lunda Su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0228" y="5618805"/>
            <a:ext cx="430134" cy="430134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6180369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4" name="Image 9" descr="Emblema Estrela 1.º de Mai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1334" y="5618805"/>
            <a:ext cx="430134" cy="430134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6861475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6" name="Image 10" descr="Emblema CR Caál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2440" y="5618805"/>
            <a:ext cx="430134" cy="430134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7542581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8" name="Image 11" descr="Emblema FC Luanda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3546" y="5618805"/>
            <a:ext cx="430134" cy="430134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8223687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0" name="Image 12" descr="Emblema Sagrada Esperanç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4652" y="5618805"/>
            <a:ext cx="430134" cy="430134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8904793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2" name="Image 13" descr="Emblema São Salvado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45758" y="5618805"/>
            <a:ext cx="430134" cy="430134"/>
          </a:xfrm>
          <a:prstGeom prst="rect">
            <a:avLst/>
          </a:prstGeom>
        </p:spPr>
      </p:pic>
      <p:sp>
        <p:nvSpPr>
          <p:cNvPr id="33" name="Shape 17"/>
          <p:cNvSpPr/>
          <p:nvPr/>
        </p:nvSpPr>
        <p:spPr>
          <a:xfrm>
            <a:off x="9585899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4" name="Image 14" descr="Emblema Kabuscorp SC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6864" y="5618805"/>
            <a:ext cx="430134" cy="430134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10267005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6" name="Image 15" descr="Emblema FC Cabind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07970" y="5618805"/>
            <a:ext cx="430134" cy="430134"/>
          </a:xfrm>
          <a:prstGeom prst="rect">
            <a:avLst/>
          </a:prstGeom>
        </p:spPr>
      </p:pic>
      <p:sp>
        <p:nvSpPr>
          <p:cNvPr id="37" name="Shape 19"/>
          <p:cNvSpPr/>
          <p:nvPr/>
        </p:nvSpPr>
        <p:spPr>
          <a:xfrm>
            <a:off x="10948111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8" name="Image 16" descr="Emblema Académica do Lobit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89076" y="5618805"/>
            <a:ext cx="430134" cy="4301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4.ª jornada em números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4864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1645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96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realizados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adiados para 16 set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663440" y="1645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496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 marcados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2,5 por jogo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1645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8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4·1·1</a:t>
            </a:r>
            <a:endParaRPr lang="en-US" sz="540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2496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vitórias casa · empates · fora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casa pesou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520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54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" y="4553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amarelos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4873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por jogo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389120" y="3520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6344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25" name="Text 21"/>
          <p:cNvSpPr txBox="1"/>
          <p:nvPr/>
        </p:nvSpPr>
        <p:spPr>
          <a:xfrm>
            <a:off x="4663440" y="4553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vermelhos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4663440" y="4873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expulsão na jornada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229600" y="3520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50392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8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9" name="Text 25"/>
          <p:cNvSpPr txBox="1"/>
          <p:nvPr/>
        </p:nvSpPr>
        <p:spPr>
          <a:xfrm>
            <a:off x="8503920" y="4553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reviravoltas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8503920" y="4873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sofreu primeiro acabou por ganhar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Destaque: </a:t>
            </a:r>
            <a:pPr indent="0" marL="0">
              <a:buNone/>
            </a:pPr>
            <a:r>
              <a:rPr lang="en-US" sz="14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de Benguela soma 4 vitórias em 4 jogos e lidera com 12 pontos; Mabululu bisou frente ao FC Luanda.</a:t>
            </a:r>
            <a:endParaRPr lang="en-US" sz="1400" dirty="0"/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marcadores da 4.ª jornada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146304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 9/09 · Estádio França Ndalu · Intervalo 1-0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0" name="Image 1" descr="Emblema FC Cabin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788566"/>
            <a:ext cx="537667" cy="53766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166360" y="173736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2" name="Image 2" descr="Emblema CD 1.º de Agos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566" y="1788566"/>
            <a:ext cx="537667" cy="53766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81328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Cabinda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3593592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de Agosto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2811780" y="175564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</a:t>
            </a:r>
            <a:endParaRPr lang="en-US" sz="2800" dirty="0"/>
          </a:p>
        </p:txBody>
      </p:sp>
      <p:sp>
        <p:nvSpPr>
          <p:cNvPr id="16" name="Text 10"/>
          <p:cNvSpPr txBox="1"/>
          <p:nvPr/>
        </p:nvSpPr>
        <p:spPr>
          <a:xfrm>
            <a:off x="749808" y="2441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Luyeye Tomás Tomás 25'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3273552" y="2441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Gaudêncio 46'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17920" y="13716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00800" y="146304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10/09 · Estádio 22 de Junho · Intervalo 2-0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0" y="173736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1" name="Image 3" descr="Emblema GD Intercl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6" y="1788566"/>
            <a:ext cx="537667" cy="53766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0835640" y="173736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3" name="Image 4" descr="Emblema Académica do Lobi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6846" y="1788566"/>
            <a:ext cx="537667" cy="53766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50608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Interclube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9262872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Lobito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8481060" y="175564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0</a:t>
            </a:r>
            <a:endParaRPr lang="en-US" sz="2800" dirty="0"/>
          </a:p>
        </p:txBody>
      </p:sp>
      <p:sp>
        <p:nvSpPr>
          <p:cNvPr id="27" name="Text 19"/>
          <p:cNvSpPr txBox="1"/>
          <p:nvPr/>
        </p:nvSpPr>
        <p:spPr>
          <a:xfrm>
            <a:off x="6419088" y="2441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Banza 26'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Manuel 39'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8942832" y="2441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48640" y="309067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31520" y="318211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12/09 · Estádio do Sagrada Esperança · Intervalo 1-1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731520" y="3456432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2" name="Image 5" descr="Emblema Desportivo da Lunda Su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" y="3507638"/>
            <a:ext cx="537667" cy="537667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166360" y="3456432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4" name="Image 6" descr="Emblema Sagrada Esperanç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7566" y="3507638"/>
            <a:ext cx="537667" cy="53766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481328" y="3502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Desp. Lunda Sul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3593592" y="3502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Sagrada Esperança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2811780" y="34747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1</a:t>
            </a:r>
            <a:endParaRPr lang="en-US" sz="2800" dirty="0"/>
          </a:p>
        </p:txBody>
      </p:sp>
      <p:sp>
        <p:nvSpPr>
          <p:cNvPr id="38" name="Text 28"/>
          <p:cNvSpPr txBox="1"/>
          <p:nvPr/>
        </p:nvSpPr>
        <p:spPr>
          <a:xfrm>
            <a:off x="749808" y="4160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Joaquim Teixeira 45'+4'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Honjo 53'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3273552" y="4160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Abel Fernando 21'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217920" y="309067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6400800" y="318211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12/09 · Estádio Municipal de Calulo · Intervalo 2-1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400800" y="3456432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3" name="Image 7" descr="Emblema Recreativo do Libol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2006" y="3507638"/>
            <a:ext cx="537667" cy="537667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10835640" y="3456432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5" name="Image 8" descr="Emblema Estrela 1.º de Mai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6846" y="3507638"/>
            <a:ext cx="537667" cy="537667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150608" y="3502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 do Libolo</a:t>
            </a:r>
            <a:endParaRPr lang="en-US" sz="1300" dirty="0"/>
          </a:p>
        </p:txBody>
      </p:sp>
      <p:sp>
        <p:nvSpPr>
          <p:cNvPr id="47" name="Text 35"/>
          <p:cNvSpPr txBox="1"/>
          <p:nvPr/>
        </p:nvSpPr>
        <p:spPr>
          <a:xfrm>
            <a:off x="9262872" y="3502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 1.º Maio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8481060" y="34747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1</a:t>
            </a:r>
            <a:endParaRPr lang="en-US" sz="2800" dirty="0"/>
          </a:p>
        </p:txBody>
      </p:sp>
      <p:sp>
        <p:nvSpPr>
          <p:cNvPr id="49" name="Text 37"/>
          <p:cNvSpPr txBox="1"/>
          <p:nvPr/>
        </p:nvSpPr>
        <p:spPr>
          <a:xfrm>
            <a:off x="6419088" y="4160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Mestre Gui 17'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Mendes 38'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8942832" y="4160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Tchutchu 7'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548640" y="480974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731520" y="49011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13/09 · Estádio Daniel Lutucuta · Intervalo 1-0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731520" y="5175504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4" name="Image 9" descr="Emblema CR Caál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26" y="5226710"/>
            <a:ext cx="537667" cy="537667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5166360" y="5175504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6" name="Image 10" descr="Emblema Desportivo da Huíl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7566" y="5226710"/>
            <a:ext cx="537667" cy="537667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481328" y="5221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Caála</a:t>
            </a:r>
            <a:endParaRPr lang="en-US" sz="1300" dirty="0"/>
          </a:p>
        </p:txBody>
      </p:sp>
      <p:sp>
        <p:nvSpPr>
          <p:cNvPr id="58" name="Text 44"/>
          <p:cNvSpPr txBox="1"/>
          <p:nvPr/>
        </p:nvSpPr>
        <p:spPr>
          <a:xfrm>
            <a:off x="3593592" y="5221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Desp. da Huíla</a:t>
            </a:r>
            <a:endParaRPr lang="en-US" sz="1300" dirty="0"/>
          </a:p>
        </p:txBody>
      </p:sp>
      <p:sp>
        <p:nvSpPr>
          <p:cNvPr id="59" name="Text 45"/>
          <p:cNvSpPr txBox="1"/>
          <p:nvPr/>
        </p:nvSpPr>
        <p:spPr>
          <a:xfrm>
            <a:off x="2811780" y="519379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</a:t>
            </a:r>
            <a:endParaRPr lang="en-US" sz="2800" dirty="0"/>
          </a:p>
        </p:txBody>
      </p:sp>
      <p:sp>
        <p:nvSpPr>
          <p:cNvPr id="60" name="Text 46"/>
          <p:cNvSpPr txBox="1"/>
          <p:nvPr/>
        </p:nvSpPr>
        <p:spPr>
          <a:xfrm>
            <a:off x="749808" y="5879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Benvindo Miguel André Afonso 12'</a:t>
            </a:r>
            <a:endParaRPr lang="en-US" sz="1000" dirty="0"/>
          </a:p>
        </p:txBody>
      </p:sp>
      <p:sp>
        <p:nvSpPr>
          <p:cNvPr id="61" name="Text 47"/>
          <p:cNvSpPr txBox="1"/>
          <p:nvPr/>
        </p:nvSpPr>
        <p:spPr>
          <a:xfrm>
            <a:off x="3273552" y="5879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Milagre Carlos Simba 52'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Pena 90'+4'</a:t>
            </a:r>
            <a:endParaRPr lang="en-US" sz="1000" dirty="0"/>
          </a:p>
        </p:txBody>
      </p:sp>
      <p:sp>
        <p:nvSpPr>
          <p:cNvPr id="62" name="Shape 48"/>
          <p:cNvSpPr/>
          <p:nvPr/>
        </p:nvSpPr>
        <p:spPr>
          <a:xfrm>
            <a:off x="6217920" y="480974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63" name="Text 49"/>
          <p:cNvSpPr txBox="1"/>
          <p:nvPr/>
        </p:nvSpPr>
        <p:spPr>
          <a:xfrm>
            <a:off x="6400800" y="49011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13/09 · Estádio Nacional de Ombaka · Intervalo 2-0</a:t>
            </a:r>
            <a:endParaRPr lang="en-US" sz="950" dirty="0"/>
          </a:p>
        </p:txBody>
      </p:sp>
      <p:sp>
        <p:nvSpPr>
          <p:cNvPr id="64" name="Shape 50"/>
          <p:cNvSpPr/>
          <p:nvPr/>
        </p:nvSpPr>
        <p:spPr>
          <a:xfrm>
            <a:off x="6400800" y="5175504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65" name="Image 11" descr="Emblema Wiliete de Benguela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2006" y="5226710"/>
            <a:ext cx="537667" cy="537667"/>
          </a:xfrm>
          <a:prstGeom prst="rect">
            <a:avLst/>
          </a:prstGeom>
        </p:spPr>
      </p:pic>
      <p:sp>
        <p:nvSpPr>
          <p:cNvPr id="66" name="Shape 51"/>
          <p:cNvSpPr/>
          <p:nvPr/>
        </p:nvSpPr>
        <p:spPr>
          <a:xfrm>
            <a:off x="10835640" y="5175504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67" name="Image 12" descr="Emblema FC Luand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86846" y="5226710"/>
            <a:ext cx="537667" cy="537667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7150608" y="5221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SC</a:t>
            </a:r>
            <a:endParaRPr lang="en-US" sz="1300" dirty="0"/>
          </a:p>
        </p:txBody>
      </p:sp>
      <p:sp>
        <p:nvSpPr>
          <p:cNvPr id="69" name="Text 53"/>
          <p:cNvSpPr txBox="1"/>
          <p:nvPr/>
        </p:nvSpPr>
        <p:spPr>
          <a:xfrm>
            <a:off x="9262872" y="5221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Luanda</a:t>
            </a:r>
            <a:endParaRPr lang="en-US" sz="1300" dirty="0"/>
          </a:p>
        </p:txBody>
      </p:sp>
      <p:sp>
        <p:nvSpPr>
          <p:cNvPr id="70" name="Text 54"/>
          <p:cNvSpPr txBox="1"/>
          <p:nvPr/>
        </p:nvSpPr>
        <p:spPr>
          <a:xfrm>
            <a:off x="8481060" y="519379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0</a:t>
            </a:r>
            <a:endParaRPr lang="en-US" sz="2800" dirty="0"/>
          </a:p>
        </p:txBody>
      </p:sp>
      <p:sp>
        <p:nvSpPr>
          <p:cNvPr id="71" name="Text 55"/>
          <p:cNvSpPr txBox="1"/>
          <p:nvPr/>
        </p:nvSpPr>
        <p:spPr>
          <a:xfrm>
            <a:off x="6419088" y="5879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Mabululu 31', 45'+6</a:t>
            </a:r>
            <a:endParaRPr lang="en-US" sz="1000" dirty="0"/>
          </a:p>
        </p:txBody>
      </p:sp>
      <p:sp>
        <p:nvSpPr>
          <p:cNvPr id="72" name="Text 56"/>
          <p:cNvSpPr txBox="1"/>
          <p:nvPr/>
        </p:nvSpPr>
        <p:spPr>
          <a:xfrm>
            <a:off x="8942832" y="5879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que faltam realizar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48640" y="1463040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691640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9" name="Image 1" descr="Emblema Bravos do Maqu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1761134"/>
            <a:ext cx="729691" cy="72969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566160" y="1691640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1" name="Image 2" descr="Emblema Kabuscorp S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654" y="1761134"/>
            <a:ext cx="729691" cy="729691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737360" y="17373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Bravos do Maquis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315468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4526280" y="17373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Kabuscorp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035040" y="16276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4.ª JORNADA · ADIADO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60350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 16/09 · 15:00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0350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Estádio Mundunduleno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035040" y="2450592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035040" y="2450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48640" y="3063240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3291840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2" name="Image 3" descr="Emblema São Salv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" y="3361334"/>
            <a:ext cx="729691" cy="729691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566160" y="3291840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4" name="Image 4" descr="Emblema Petro de Lua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654" y="3361334"/>
            <a:ext cx="729691" cy="72969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3736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Salvador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3154680" y="3474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52628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de Luanda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035040" y="3227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4.ª JORNADA · ADIADO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603504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 16/09 · 15:30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03504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Estádio Álvaro Buta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035040" y="405079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035040" y="40507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· Zsports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548640" y="4663440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77240" y="4892040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5" name="Image 5" descr="Emblema Sagrada Esperanç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" y="4961534"/>
            <a:ext cx="729691" cy="72969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3566160" y="4892040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7" name="Image 6" descr="Emblema Kabuscorp S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5654" y="4961534"/>
            <a:ext cx="729691" cy="72969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737360" y="4937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Sagrada Esperança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3154680" y="5074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4526280" y="4937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Kabuscorp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6035040" y="48280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3.ª JORNADA · EM ATRASO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603504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 23/09 · 15:00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03504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Estádio do Sagrada Esperança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035040" y="5650992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035040" y="5650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8092440" y="1463040"/>
            <a:ext cx="3550615" cy="4526280"/>
          </a:xfrm>
          <a:prstGeom prst="roundRect">
            <a:avLst>
              <a:gd name="adj" fmla="val 206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8366760" y="169164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classificação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8366760" y="2194560"/>
            <a:ext cx="300197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de Luanda (4.º, 7 pts, 3 J)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uma vitória em Mbanza Kongo chega aos 10 pontos, igualando o 1.º de Agosto (10).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Bravos do Maquis (5.º, 6 pts)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subir aos 9 pontos e ao pódio provisório.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Kabuscorp (14.º, 2 J)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dois jogos em atraso: Bravos (16 set) e Sagrada Esperança (23 set).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geral após a 4.ª jornada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9844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29844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298448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1298448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956048" y="1298448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522976" y="1298448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089904" y="1298448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1298448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1298448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973568" y="129844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659368" y="1298448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482328" y="1298448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(últimos jogos)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solidFill>
            <a:srgbClr val="17405E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1600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371600" y="1600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de Benguela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1600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956048" y="1600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522976" y="1600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089904" y="1600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1600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315200" y="1600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973568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659368" y="1600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1024128" y="161848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1" name="Image 1" descr="Emblema Wiliete de Bengu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48" y="1637508"/>
            <a:ext cx="199705" cy="199705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9482328" y="164134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482328" y="164134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9811512" y="164134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811512" y="164134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10140696" y="164134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0140696" y="164134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10469880" y="164134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469880" y="164134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48640" y="1901952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548640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1371600" y="1901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1.º de Agosto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4389120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4956048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5522976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6089904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6656832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7315200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7973568" y="1901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50" name="Text 45"/>
          <p:cNvSpPr txBox="1"/>
          <p:nvPr/>
        </p:nvSpPr>
        <p:spPr>
          <a:xfrm>
            <a:off x="8659368" y="1901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1024128" y="1920240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2" name="Image 2" descr="Emblema CD 1.º de Agos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48" y="1939260"/>
            <a:ext cx="199705" cy="199705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9482328" y="194310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482328" y="194310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9811512" y="194310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811512" y="194310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10140696" y="194310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0140696" y="194310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10469880" y="194310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10469880" y="194310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48640" y="2203704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548640" y="2203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57"/>
          <p:cNvSpPr txBox="1"/>
          <p:nvPr/>
        </p:nvSpPr>
        <p:spPr>
          <a:xfrm>
            <a:off x="1371600" y="22037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Interclube</a:t>
            </a:r>
            <a:endParaRPr lang="en-US" sz="1200" dirty="0"/>
          </a:p>
        </p:txBody>
      </p:sp>
      <p:sp>
        <p:nvSpPr>
          <p:cNvPr id="64" name="Text 58"/>
          <p:cNvSpPr txBox="1"/>
          <p:nvPr/>
        </p:nvSpPr>
        <p:spPr>
          <a:xfrm>
            <a:off x="4389120" y="2203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59"/>
          <p:cNvSpPr txBox="1"/>
          <p:nvPr/>
        </p:nvSpPr>
        <p:spPr>
          <a:xfrm>
            <a:off x="4956048" y="2203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0"/>
          <p:cNvSpPr txBox="1"/>
          <p:nvPr/>
        </p:nvSpPr>
        <p:spPr>
          <a:xfrm>
            <a:off x="5522976" y="2203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Text 61"/>
          <p:cNvSpPr txBox="1"/>
          <p:nvPr/>
        </p:nvSpPr>
        <p:spPr>
          <a:xfrm>
            <a:off x="6089904" y="2203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6656832" y="2203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9" name="Text 63"/>
          <p:cNvSpPr txBox="1"/>
          <p:nvPr/>
        </p:nvSpPr>
        <p:spPr>
          <a:xfrm>
            <a:off x="7315200" y="2203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4"/>
          <p:cNvSpPr txBox="1"/>
          <p:nvPr/>
        </p:nvSpPr>
        <p:spPr>
          <a:xfrm>
            <a:off x="7973568" y="22037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71" name="Text 65"/>
          <p:cNvSpPr txBox="1"/>
          <p:nvPr/>
        </p:nvSpPr>
        <p:spPr>
          <a:xfrm>
            <a:off x="8659368" y="22037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72" name="Shape 66"/>
          <p:cNvSpPr/>
          <p:nvPr/>
        </p:nvSpPr>
        <p:spPr>
          <a:xfrm>
            <a:off x="1024128" y="222199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73" name="Image 3" descr="Emblema GD Intercl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48" y="2241012"/>
            <a:ext cx="199705" cy="199705"/>
          </a:xfrm>
          <a:prstGeom prst="rect">
            <a:avLst/>
          </a:prstGeom>
        </p:spPr>
      </p:pic>
      <p:sp>
        <p:nvSpPr>
          <p:cNvPr id="74" name="Shape 67"/>
          <p:cNvSpPr/>
          <p:nvPr/>
        </p:nvSpPr>
        <p:spPr>
          <a:xfrm>
            <a:off x="9482328" y="224485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9482328" y="224485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76" name="Shape 69"/>
          <p:cNvSpPr/>
          <p:nvPr/>
        </p:nvSpPr>
        <p:spPr>
          <a:xfrm>
            <a:off x="9811512" y="224485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9811512" y="224485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78" name="Shape 71"/>
          <p:cNvSpPr/>
          <p:nvPr/>
        </p:nvSpPr>
        <p:spPr>
          <a:xfrm>
            <a:off x="10140696" y="224485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10140696" y="224485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80" name="Shape 73"/>
          <p:cNvSpPr/>
          <p:nvPr/>
        </p:nvSpPr>
        <p:spPr>
          <a:xfrm>
            <a:off x="10469880" y="224485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10469880" y="224485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82" name="Shape 75"/>
          <p:cNvSpPr/>
          <p:nvPr/>
        </p:nvSpPr>
        <p:spPr>
          <a:xfrm>
            <a:off x="548640" y="2505456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54864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4" name="Text 77"/>
          <p:cNvSpPr txBox="1"/>
          <p:nvPr/>
        </p:nvSpPr>
        <p:spPr>
          <a:xfrm>
            <a:off x="1371600" y="25054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de Luanda</a:t>
            </a:r>
            <a:endParaRPr lang="en-US" sz="1200" dirty="0"/>
          </a:p>
        </p:txBody>
      </p:sp>
      <p:sp>
        <p:nvSpPr>
          <p:cNvPr id="85" name="Text 78"/>
          <p:cNvSpPr txBox="1"/>
          <p:nvPr/>
        </p:nvSpPr>
        <p:spPr>
          <a:xfrm>
            <a:off x="4389120" y="2505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6" name="Text 79"/>
          <p:cNvSpPr txBox="1"/>
          <p:nvPr/>
        </p:nvSpPr>
        <p:spPr>
          <a:xfrm>
            <a:off x="4956048" y="2505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7" name="Text 80"/>
          <p:cNvSpPr txBox="1"/>
          <p:nvPr/>
        </p:nvSpPr>
        <p:spPr>
          <a:xfrm>
            <a:off x="5522976" y="2505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8" name="Text 81"/>
          <p:cNvSpPr txBox="1"/>
          <p:nvPr/>
        </p:nvSpPr>
        <p:spPr>
          <a:xfrm>
            <a:off x="6089904" y="2505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9" name="Text 82"/>
          <p:cNvSpPr txBox="1"/>
          <p:nvPr/>
        </p:nvSpPr>
        <p:spPr>
          <a:xfrm>
            <a:off x="6656832" y="25054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0" name="Text 83"/>
          <p:cNvSpPr txBox="1"/>
          <p:nvPr/>
        </p:nvSpPr>
        <p:spPr>
          <a:xfrm>
            <a:off x="7315200" y="25054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1" name="Text 84"/>
          <p:cNvSpPr txBox="1"/>
          <p:nvPr/>
        </p:nvSpPr>
        <p:spPr>
          <a:xfrm>
            <a:off x="7973568" y="2505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200" dirty="0"/>
          </a:p>
        </p:txBody>
      </p:sp>
      <p:sp>
        <p:nvSpPr>
          <p:cNvPr id="92" name="Text 85"/>
          <p:cNvSpPr txBox="1"/>
          <p:nvPr/>
        </p:nvSpPr>
        <p:spPr>
          <a:xfrm>
            <a:off x="8659368" y="25054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3" name="Shape 86"/>
          <p:cNvSpPr/>
          <p:nvPr/>
        </p:nvSpPr>
        <p:spPr>
          <a:xfrm>
            <a:off x="1024128" y="252374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94" name="Image 4" descr="Emblema Petro de Lua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48" y="2542764"/>
            <a:ext cx="199705" cy="199705"/>
          </a:xfrm>
          <a:prstGeom prst="rect">
            <a:avLst/>
          </a:prstGeom>
        </p:spPr>
      </p:pic>
      <p:sp>
        <p:nvSpPr>
          <p:cNvPr id="95" name="Shape 87"/>
          <p:cNvSpPr/>
          <p:nvPr/>
        </p:nvSpPr>
        <p:spPr>
          <a:xfrm>
            <a:off x="9482328" y="254660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9482328" y="254660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97" name="Shape 89"/>
          <p:cNvSpPr/>
          <p:nvPr/>
        </p:nvSpPr>
        <p:spPr>
          <a:xfrm>
            <a:off x="9811512" y="254660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9811512" y="254660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99" name="Shape 91"/>
          <p:cNvSpPr/>
          <p:nvPr/>
        </p:nvSpPr>
        <p:spPr>
          <a:xfrm>
            <a:off x="10140696" y="254660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10140696" y="254660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01" name="Shape 93"/>
          <p:cNvSpPr/>
          <p:nvPr/>
        </p:nvSpPr>
        <p:spPr>
          <a:xfrm>
            <a:off x="548640" y="2807208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102" name="Text 94"/>
          <p:cNvSpPr txBox="1"/>
          <p:nvPr/>
        </p:nvSpPr>
        <p:spPr>
          <a:xfrm>
            <a:off x="548640" y="2807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3" name="Text 95"/>
          <p:cNvSpPr txBox="1"/>
          <p:nvPr/>
        </p:nvSpPr>
        <p:spPr>
          <a:xfrm>
            <a:off x="1371600" y="2807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Bravos do Maquis</a:t>
            </a:r>
            <a:endParaRPr lang="en-US" sz="1200" dirty="0"/>
          </a:p>
        </p:txBody>
      </p:sp>
      <p:sp>
        <p:nvSpPr>
          <p:cNvPr id="104" name="Text 96"/>
          <p:cNvSpPr txBox="1"/>
          <p:nvPr/>
        </p:nvSpPr>
        <p:spPr>
          <a:xfrm>
            <a:off x="4389120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5" name="Text 97"/>
          <p:cNvSpPr txBox="1"/>
          <p:nvPr/>
        </p:nvSpPr>
        <p:spPr>
          <a:xfrm>
            <a:off x="4956048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6" name="Text 98"/>
          <p:cNvSpPr txBox="1"/>
          <p:nvPr/>
        </p:nvSpPr>
        <p:spPr>
          <a:xfrm>
            <a:off x="5522976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7" name="Text 99"/>
          <p:cNvSpPr txBox="1"/>
          <p:nvPr/>
        </p:nvSpPr>
        <p:spPr>
          <a:xfrm>
            <a:off x="6089904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8" name="Text 100"/>
          <p:cNvSpPr txBox="1"/>
          <p:nvPr/>
        </p:nvSpPr>
        <p:spPr>
          <a:xfrm>
            <a:off x="6656832" y="2807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9" name="Text 101"/>
          <p:cNvSpPr txBox="1"/>
          <p:nvPr/>
        </p:nvSpPr>
        <p:spPr>
          <a:xfrm>
            <a:off x="7315200" y="2807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0" name="Text 102"/>
          <p:cNvSpPr txBox="1"/>
          <p:nvPr/>
        </p:nvSpPr>
        <p:spPr>
          <a:xfrm>
            <a:off x="7973568" y="2807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111" name="Text 103"/>
          <p:cNvSpPr txBox="1"/>
          <p:nvPr/>
        </p:nvSpPr>
        <p:spPr>
          <a:xfrm>
            <a:off x="8659368" y="28072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1024128" y="282549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13" name="Image 5" descr="Emblema Bravos do Maqu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48" y="2844516"/>
            <a:ext cx="199705" cy="199705"/>
          </a:xfrm>
          <a:prstGeom prst="rect">
            <a:avLst/>
          </a:prstGeom>
        </p:spPr>
      </p:pic>
      <p:sp>
        <p:nvSpPr>
          <p:cNvPr id="114" name="Shape 105"/>
          <p:cNvSpPr/>
          <p:nvPr/>
        </p:nvSpPr>
        <p:spPr>
          <a:xfrm>
            <a:off x="9482328" y="284835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15" name="Text 106"/>
          <p:cNvSpPr txBox="1"/>
          <p:nvPr/>
        </p:nvSpPr>
        <p:spPr>
          <a:xfrm>
            <a:off x="9482328" y="284835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16" name="Shape 107"/>
          <p:cNvSpPr/>
          <p:nvPr/>
        </p:nvSpPr>
        <p:spPr>
          <a:xfrm>
            <a:off x="9811512" y="284835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17" name="Text 108"/>
          <p:cNvSpPr txBox="1"/>
          <p:nvPr/>
        </p:nvSpPr>
        <p:spPr>
          <a:xfrm>
            <a:off x="9811512" y="284835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18" name="Shape 109"/>
          <p:cNvSpPr/>
          <p:nvPr/>
        </p:nvSpPr>
        <p:spPr>
          <a:xfrm>
            <a:off x="10140696" y="284835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9" name="Text 110"/>
          <p:cNvSpPr txBox="1"/>
          <p:nvPr/>
        </p:nvSpPr>
        <p:spPr>
          <a:xfrm>
            <a:off x="10140696" y="284835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20" name="Shape 111"/>
          <p:cNvSpPr/>
          <p:nvPr/>
        </p:nvSpPr>
        <p:spPr>
          <a:xfrm>
            <a:off x="548640" y="3108960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21" name="Text 112"/>
          <p:cNvSpPr txBox="1"/>
          <p:nvPr/>
        </p:nvSpPr>
        <p:spPr>
          <a:xfrm>
            <a:off x="54864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22" name="Text 113"/>
          <p:cNvSpPr txBox="1"/>
          <p:nvPr/>
        </p:nvSpPr>
        <p:spPr>
          <a:xfrm>
            <a:off x="1371600" y="3108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Recreativo do Libolo</a:t>
            </a:r>
            <a:endParaRPr lang="en-US" sz="1200" dirty="0"/>
          </a:p>
        </p:txBody>
      </p:sp>
      <p:sp>
        <p:nvSpPr>
          <p:cNvPr id="123" name="Text 114"/>
          <p:cNvSpPr txBox="1"/>
          <p:nvPr/>
        </p:nvSpPr>
        <p:spPr>
          <a:xfrm>
            <a:off x="4389120" y="3108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4" name="Text 115"/>
          <p:cNvSpPr txBox="1"/>
          <p:nvPr/>
        </p:nvSpPr>
        <p:spPr>
          <a:xfrm>
            <a:off x="4956048" y="3108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5" name="Text 116"/>
          <p:cNvSpPr txBox="1"/>
          <p:nvPr/>
        </p:nvSpPr>
        <p:spPr>
          <a:xfrm>
            <a:off x="5522976" y="3108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26" name="Text 117"/>
          <p:cNvSpPr txBox="1"/>
          <p:nvPr/>
        </p:nvSpPr>
        <p:spPr>
          <a:xfrm>
            <a:off x="6089904" y="3108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7" name="Text 118"/>
          <p:cNvSpPr txBox="1"/>
          <p:nvPr/>
        </p:nvSpPr>
        <p:spPr>
          <a:xfrm>
            <a:off x="6656832" y="3108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8" name="Text 119"/>
          <p:cNvSpPr txBox="1"/>
          <p:nvPr/>
        </p:nvSpPr>
        <p:spPr>
          <a:xfrm>
            <a:off x="7315200" y="3108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9" name="Text 120"/>
          <p:cNvSpPr txBox="1"/>
          <p:nvPr/>
        </p:nvSpPr>
        <p:spPr>
          <a:xfrm>
            <a:off x="7973568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0" name="Text 121"/>
          <p:cNvSpPr txBox="1"/>
          <p:nvPr/>
        </p:nvSpPr>
        <p:spPr>
          <a:xfrm>
            <a:off x="8659368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31" name="Shape 122"/>
          <p:cNvSpPr/>
          <p:nvPr/>
        </p:nvSpPr>
        <p:spPr>
          <a:xfrm>
            <a:off x="1024128" y="312724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32" name="Image 6" descr="Emblema Recreativo do Libol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148" y="3146268"/>
            <a:ext cx="199705" cy="199705"/>
          </a:xfrm>
          <a:prstGeom prst="rect">
            <a:avLst/>
          </a:prstGeom>
        </p:spPr>
      </p:pic>
      <p:sp>
        <p:nvSpPr>
          <p:cNvPr id="133" name="Shape 123"/>
          <p:cNvSpPr/>
          <p:nvPr/>
        </p:nvSpPr>
        <p:spPr>
          <a:xfrm>
            <a:off x="9482328" y="315010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34" name="Text 124"/>
          <p:cNvSpPr txBox="1"/>
          <p:nvPr/>
        </p:nvSpPr>
        <p:spPr>
          <a:xfrm>
            <a:off x="9482328" y="315010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35" name="Shape 125"/>
          <p:cNvSpPr/>
          <p:nvPr/>
        </p:nvSpPr>
        <p:spPr>
          <a:xfrm>
            <a:off x="9811512" y="315010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6" name="Text 126"/>
          <p:cNvSpPr txBox="1"/>
          <p:nvPr/>
        </p:nvSpPr>
        <p:spPr>
          <a:xfrm>
            <a:off x="9811512" y="315010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37" name="Shape 127"/>
          <p:cNvSpPr/>
          <p:nvPr/>
        </p:nvSpPr>
        <p:spPr>
          <a:xfrm>
            <a:off x="10140696" y="315010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8" name="Text 128"/>
          <p:cNvSpPr txBox="1"/>
          <p:nvPr/>
        </p:nvSpPr>
        <p:spPr>
          <a:xfrm>
            <a:off x="10140696" y="315010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39" name="Shape 129"/>
          <p:cNvSpPr/>
          <p:nvPr/>
        </p:nvSpPr>
        <p:spPr>
          <a:xfrm>
            <a:off x="10469880" y="315010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40" name="Text 130"/>
          <p:cNvSpPr txBox="1"/>
          <p:nvPr/>
        </p:nvSpPr>
        <p:spPr>
          <a:xfrm>
            <a:off x="10469880" y="315010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41" name="Shape 131"/>
          <p:cNvSpPr/>
          <p:nvPr/>
        </p:nvSpPr>
        <p:spPr>
          <a:xfrm>
            <a:off x="548640" y="3410712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142" name="Text 132"/>
          <p:cNvSpPr txBox="1"/>
          <p:nvPr/>
        </p:nvSpPr>
        <p:spPr>
          <a:xfrm>
            <a:off x="54864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43" name="Text 133"/>
          <p:cNvSpPr txBox="1"/>
          <p:nvPr/>
        </p:nvSpPr>
        <p:spPr>
          <a:xfrm>
            <a:off x="1371600" y="3410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Desportivo da Huíla</a:t>
            </a:r>
            <a:endParaRPr lang="en-US" sz="1200" dirty="0"/>
          </a:p>
        </p:txBody>
      </p:sp>
      <p:sp>
        <p:nvSpPr>
          <p:cNvPr id="144" name="Text 134"/>
          <p:cNvSpPr txBox="1"/>
          <p:nvPr/>
        </p:nvSpPr>
        <p:spPr>
          <a:xfrm>
            <a:off x="4389120" y="3410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5" name="Text 135"/>
          <p:cNvSpPr txBox="1"/>
          <p:nvPr/>
        </p:nvSpPr>
        <p:spPr>
          <a:xfrm>
            <a:off x="4956048" y="3410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6" name="Text 136"/>
          <p:cNvSpPr txBox="1"/>
          <p:nvPr/>
        </p:nvSpPr>
        <p:spPr>
          <a:xfrm>
            <a:off x="5522976" y="3410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7" name="Text 137"/>
          <p:cNvSpPr txBox="1"/>
          <p:nvPr/>
        </p:nvSpPr>
        <p:spPr>
          <a:xfrm>
            <a:off x="6089904" y="3410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8" name="Text 138"/>
          <p:cNvSpPr txBox="1"/>
          <p:nvPr/>
        </p:nvSpPr>
        <p:spPr>
          <a:xfrm>
            <a:off x="6656832" y="3410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9" name="Text 139"/>
          <p:cNvSpPr txBox="1"/>
          <p:nvPr/>
        </p:nvSpPr>
        <p:spPr>
          <a:xfrm>
            <a:off x="7315200" y="3410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0" name="Text 140"/>
          <p:cNvSpPr txBox="1"/>
          <p:nvPr/>
        </p:nvSpPr>
        <p:spPr>
          <a:xfrm>
            <a:off x="7973568" y="34107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51" name="Text 141"/>
          <p:cNvSpPr txBox="1"/>
          <p:nvPr/>
        </p:nvSpPr>
        <p:spPr>
          <a:xfrm>
            <a:off x="8659368" y="34107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2" name="Shape 142"/>
          <p:cNvSpPr/>
          <p:nvPr/>
        </p:nvSpPr>
        <p:spPr>
          <a:xfrm>
            <a:off x="1024128" y="3429000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53" name="Image 7" descr="Emblema Desportivo da Huí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148" y="3448020"/>
            <a:ext cx="199705" cy="199705"/>
          </a:xfrm>
          <a:prstGeom prst="rect">
            <a:avLst/>
          </a:prstGeom>
        </p:spPr>
      </p:pic>
      <p:sp>
        <p:nvSpPr>
          <p:cNvPr id="154" name="Shape 143"/>
          <p:cNvSpPr/>
          <p:nvPr/>
        </p:nvSpPr>
        <p:spPr>
          <a:xfrm>
            <a:off x="9482328" y="345186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5" name="Text 144"/>
          <p:cNvSpPr txBox="1"/>
          <p:nvPr/>
        </p:nvSpPr>
        <p:spPr>
          <a:xfrm>
            <a:off x="9482328" y="345186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56" name="Shape 145"/>
          <p:cNvSpPr/>
          <p:nvPr/>
        </p:nvSpPr>
        <p:spPr>
          <a:xfrm>
            <a:off x="9811512" y="345186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57" name="Text 146"/>
          <p:cNvSpPr txBox="1"/>
          <p:nvPr/>
        </p:nvSpPr>
        <p:spPr>
          <a:xfrm>
            <a:off x="9811512" y="345186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58" name="Shape 147"/>
          <p:cNvSpPr/>
          <p:nvPr/>
        </p:nvSpPr>
        <p:spPr>
          <a:xfrm>
            <a:off x="10140696" y="345186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9" name="Text 148"/>
          <p:cNvSpPr txBox="1"/>
          <p:nvPr/>
        </p:nvSpPr>
        <p:spPr>
          <a:xfrm>
            <a:off x="10140696" y="345186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60" name="Shape 149"/>
          <p:cNvSpPr/>
          <p:nvPr/>
        </p:nvSpPr>
        <p:spPr>
          <a:xfrm>
            <a:off x="10469880" y="345186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61" name="Text 150"/>
          <p:cNvSpPr txBox="1"/>
          <p:nvPr/>
        </p:nvSpPr>
        <p:spPr>
          <a:xfrm>
            <a:off x="10469880" y="345186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62" name="Shape 151"/>
          <p:cNvSpPr/>
          <p:nvPr/>
        </p:nvSpPr>
        <p:spPr>
          <a:xfrm>
            <a:off x="548640" y="3712464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63" name="Text 152"/>
          <p:cNvSpPr txBox="1"/>
          <p:nvPr/>
        </p:nvSpPr>
        <p:spPr>
          <a:xfrm>
            <a:off x="548640" y="37124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64" name="Text 153"/>
          <p:cNvSpPr txBox="1"/>
          <p:nvPr/>
        </p:nvSpPr>
        <p:spPr>
          <a:xfrm>
            <a:off x="1371600" y="3712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Desportivo da Lunda Sul</a:t>
            </a:r>
            <a:endParaRPr lang="en-US" sz="1200" dirty="0"/>
          </a:p>
        </p:txBody>
      </p:sp>
      <p:sp>
        <p:nvSpPr>
          <p:cNvPr id="165" name="Text 154"/>
          <p:cNvSpPr txBox="1"/>
          <p:nvPr/>
        </p:nvSpPr>
        <p:spPr>
          <a:xfrm>
            <a:off x="4389120" y="37124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6" name="Text 155"/>
          <p:cNvSpPr txBox="1"/>
          <p:nvPr/>
        </p:nvSpPr>
        <p:spPr>
          <a:xfrm>
            <a:off x="4956048" y="37124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7" name="Text 156"/>
          <p:cNvSpPr txBox="1"/>
          <p:nvPr/>
        </p:nvSpPr>
        <p:spPr>
          <a:xfrm>
            <a:off x="5522976" y="37124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8" name="Text 157"/>
          <p:cNvSpPr txBox="1"/>
          <p:nvPr/>
        </p:nvSpPr>
        <p:spPr>
          <a:xfrm>
            <a:off x="6089904" y="37124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9" name="Text 158"/>
          <p:cNvSpPr txBox="1"/>
          <p:nvPr/>
        </p:nvSpPr>
        <p:spPr>
          <a:xfrm>
            <a:off x="6656832" y="37124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0" name="Text 159"/>
          <p:cNvSpPr txBox="1"/>
          <p:nvPr/>
        </p:nvSpPr>
        <p:spPr>
          <a:xfrm>
            <a:off x="7315200" y="37124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1" name="Text 160"/>
          <p:cNvSpPr txBox="1"/>
          <p:nvPr/>
        </p:nvSpPr>
        <p:spPr>
          <a:xfrm>
            <a:off x="7973568" y="37124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2" name="Text 161"/>
          <p:cNvSpPr txBox="1"/>
          <p:nvPr/>
        </p:nvSpPr>
        <p:spPr>
          <a:xfrm>
            <a:off x="8659368" y="3712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3" name="Shape 162"/>
          <p:cNvSpPr/>
          <p:nvPr/>
        </p:nvSpPr>
        <p:spPr>
          <a:xfrm>
            <a:off x="1024128" y="373075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74" name="Image 8" descr="Emblema Desportivo da Lunda Su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148" y="3749772"/>
            <a:ext cx="199705" cy="199705"/>
          </a:xfrm>
          <a:prstGeom prst="rect">
            <a:avLst/>
          </a:prstGeom>
        </p:spPr>
      </p:pic>
      <p:sp>
        <p:nvSpPr>
          <p:cNvPr id="175" name="Shape 163"/>
          <p:cNvSpPr/>
          <p:nvPr/>
        </p:nvSpPr>
        <p:spPr>
          <a:xfrm>
            <a:off x="9482328" y="375361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176" name="Text 164"/>
          <p:cNvSpPr txBox="1"/>
          <p:nvPr/>
        </p:nvSpPr>
        <p:spPr>
          <a:xfrm>
            <a:off x="9482328" y="375361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77" name="Shape 165"/>
          <p:cNvSpPr/>
          <p:nvPr/>
        </p:nvSpPr>
        <p:spPr>
          <a:xfrm>
            <a:off x="9811512" y="375361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178" name="Text 166"/>
          <p:cNvSpPr txBox="1"/>
          <p:nvPr/>
        </p:nvSpPr>
        <p:spPr>
          <a:xfrm>
            <a:off x="9811512" y="375361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79" name="Shape 167"/>
          <p:cNvSpPr/>
          <p:nvPr/>
        </p:nvSpPr>
        <p:spPr>
          <a:xfrm>
            <a:off x="10140696" y="375361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0" name="Text 168"/>
          <p:cNvSpPr txBox="1"/>
          <p:nvPr/>
        </p:nvSpPr>
        <p:spPr>
          <a:xfrm>
            <a:off x="10140696" y="375361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81" name="Shape 169"/>
          <p:cNvSpPr/>
          <p:nvPr/>
        </p:nvSpPr>
        <p:spPr>
          <a:xfrm>
            <a:off x="10469880" y="375361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182" name="Text 170"/>
          <p:cNvSpPr txBox="1"/>
          <p:nvPr/>
        </p:nvSpPr>
        <p:spPr>
          <a:xfrm>
            <a:off x="10469880" y="375361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83" name="Shape 171"/>
          <p:cNvSpPr/>
          <p:nvPr/>
        </p:nvSpPr>
        <p:spPr>
          <a:xfrm>
            <a:off x="548640" y="4014216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184" name="Text 172"/>
          <p:cNvSpPr txBox="1"/>
          <p:nvPr/>
        </p:nvSpPr>
        <p:spPr>
          <a:xfrm>
            <a:off x="548640" y="40142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85" name="Text 173"/>
          <p:cNvSpPr txBox="1"/>
          <p:nvPr/>
        </p:nvSpPr>
        <p:spPr>
          <a:xfrm>
            <a:off x="1371600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 1.º de Maio</a:t>
            </a:r>
            <a:endParaRPr lang="en-US" sz="1200" dirty="0"/>
          </a:p>
        </p:txBody>
      </p:sp>
      <p:sp>
        <p:nvSpPr>
          <p:cNvPr id="186" name="Text 174"/>
          <p:cNvSpPr txBox="1"/>
          <p:nvPr/>
        </p:nvSpPr>
        <p:spPr>
          <a:xfrm>
            <a:off x="4389120" y="4014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7" name="Text 175"/>
          <p:cNvSpPr txBox="1"/>
          <p:nvPr/>
        </p:nvSpPr>
        <p:spPr>
          <a:xfrm>
            <a:off x="4956048" y="4014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8" name="Text 176"/>
          <p:cNvSpPr txBox="1"/>
          <p:nvPr/>
        </p:nvSpPr>
        <p:spPr>
          <a:xfrm>
            <a:off x="5522976" y="4014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9" name="Text 177"/>
          <p:cNvSpPr txBox="1"/>
          <p:nvPr/>
        </p:nvSpPr>
        <p:spPr>
          <a:xfrm>
            <a:off x="6089904" y="4014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0" name="Text 178"/>
          <p:cNvSpPr txBox="1"/>
          <p:nvPr/>
        </p:nvSpPr>
        <p:spPr>
          <a:xfrm>
            <a:off x="6656832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1" name="Text 179"/>
          <p:cNvSpPr txBox="1"/>
          <p:nvPr/>
        </p:nvSpPr>
        <p:spPr>
          <a:xfrm>
            <a:off x="7315200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2" name="Text 180"/>
          <p:cNvSpPr txBox="1"/>
          <p:nvPr/>
        </p:nvSpPr>
        <p:spPr>
          <a:xfrm>
            <a:off x="7973568" y="40142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3" name="Text 181"/>
          <p:cNvSpPr txBox="1"/>
          <p:nvPr/>
        </p:nvSpPr>
        <p:spPr>
          <a:xfrm>
            <a:off x="8659368" y="40142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4" name="Shape 182"/>
          <p:cNvSpPr/>
          <p:nvPr/>
        </p:nvSpPr>
        <p:spPr>
          <a:xfrm>
            <a:off x="1024128" y="403250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95" name="Image 9" descr="Emblema Estrela 1.º de Mai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148" y="4051524"/>
            <a:ext cx="199705" cy="199705"/>
          </a:xfrm>
          <a:prstGeom prst="rect">
            <a:avLst/>
          </a:prstGeom>
        </p:spPr>
      </p:pic>
      <p:sp>
        <p:nvSpPr>
          <p:cNvPr id="196" name="Shape 183"/>
          <p:cNvSpPr/>
          <p:nvPr/>
        </p:nvSpPr>
        <p:spPr>
          <a:xfrm>
            <a:off x="9482328" y="405536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197" name="Text 184"/>
          <p:cNvSpPr txBox="1"/>
          <p:nvPr/>
        </p:nvSpPr>
        <p:spPr>
          <a:xfrm>
            <a:off x="9482328" y="405536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98" name="Shape 185"/>
          <p:cNvSpPr/>
          <p:nvPr/>
        </p:nvSpPr>
        <p:spPr>
          <a:xfrm>
            <a:off x="9811512" y="405536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9" name="Text 186"/>
          <p:cNvSpPr txBox="1"/>
          <p:nvPr/>
        </p:nvSpPr>
        <p:spPr>
          <a:xfrm>
            <a:off x="9811512" y="405536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00" name="Shape 187"/>
          <p:cNvSpPr/>
          <p:nvPr/>
        </p:nvSpPr>
        <p:spPr>
          <a:xfrm>
            <a:off x="10140696" y="405536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201" name="Text 188"/>
          <p:cNvSpPr txBox="1"/>
          <p:nvPr/>
        </p:nvSpPr>
        <p:spPr>
          <a:xfrm>
            <a:off x="10140696" y="405536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02" name="Shape 189"/>
          <p:cNvSpPr/>
          <p:nvPr/>
        </p:nvSpPr>
        <p:spPr>
          <a:xfrm>
            <a:off x="10469880" y="405536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3" name="Text 190"/>
          <p:cNvSpPr txBox="1"/>
          <p:nvPr/>
        </p:nvSpPr>
        <p:spPr>
          <a:xfrm>
            <a:off x="10469880" y="405536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04" name="Shape 191"/>
          <p:cNvSpPr/>
          <p:nvPr/>
        </p:nvSpPr>
        <p:spPr>
          <a:xfrm>
            <a:off x="548640" y="4315968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05" name="Text 192"/>
          <p:cNvSpPr txBox="1"/>
          <p:nvPr/>
        </p:nvSpPr>
        <p:spPr>
          <a:xfrm>
            <a:off x="548640" y="4315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06" name="Text 193"/>
          <p:cNvSpPr txBox="1"/>
          <p:nvPr/>
        </p:nvSpPr>
        <p:spPr>
          <a:xfrm>
            <a:off x="1371600" y="4315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Caála</a:t>
            </a:r>
            <a:endParaRPr lang="en-US" sz="1200" dirty="0"/>
          </a:p>
        </p:txBody>
      </p:sp>
      <p:sp>
        <p:nvSpPr>
          <p:cNvPr id="207" name="Text 194"/>
          <p:cNvSpPr txBox="1"/>
          <p:nvPr/>
        </p:nvSpPr>
        <p:spPr>
          <a:xfrm>
            <a:off x="4389120" y="4315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8" name="Text 195"/>
          <p:cNvSpPr txBox="1"/>
          <p:nvPr/>
        </p:nvSpPr>
        <p:spPr>
          <a:xfrm>
            <a:off x="4956048" y="4315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9" name="Text 196"/>
          <p:cNvSpPr txBox="1"/>
          <p:nvPr/>
        </p:nvSpPr>
        <p:spPr>
          <a:xfrm>
            <a:off x="5522976" y="4315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0" name="Text 197"/>
          <p:cNvSpPr txBox="1"/>
          <p:nvPr/>
        </p:nvSpPr>
        <p:spPr>
          <a:xfrm>
            <a:off x="6089904" y="4315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1" name="Text 198"/>
          <p:cNvSpPr txBox="1"/>
          <p:nvPr/>
        </p:nvSpPr>
        <p:spPr>
          <a:xfrm>
            <a:off x="6656832" y="4315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2" name="Text 199"/>
          <p:cNvSpPr txBox="1"/>
          <p:nvPr/>
        </p:nvSpPr>
        <p:spPr>
          <a:xfrm>
            <a:off x="7315200" y="4315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3" name="Text 200"/>
          <p:cNvSpPr txBox="1"/>
          <p:nvPr/>
        </p:nvSpPr>
        <p:spPr>
          <a:xfrm>
            <a:off x="7973568" y="43159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200" dirty="0"/>
          </a:p>
        </p:txBody>
      </p:sp>
      <p:sp>
        <p:nvSpPr>
          <p:cNvPr id="214" name="Text 201"/>
          <p:cNvSpPr txBox="1"/>
          <p:nvPr/>
        </p:nvSpPr>
        <p:spPr>
          <a:xfrm>
            <a:off x="8659368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5" name="Shape 202"/>
          <p:cNvSpPr/>
          <p:nvPr/>
        </p:nvSpPr>
        <p:spPr>
          <a:xfrm>
            <a:off x="1024128" y="433425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16" name="Image 10" descr="Emblema CR Caál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148" y="4353276"/>
            <a:ext cx="199705" cy="199705"/>
          </a:xfrm>
          <a:prstGeom prst="rect">
            <a:avLst/>
          </a:prstGeom>
        </p:spPr>
      </p:pic>
      <p:sp>
        <p:nvSpPr>
          <p:cNvPr id="217" name="Shape 203"/>
          <p:cNvSpPr/>
          <p:nvPr/>
        </p:nvSpPr>
        <p:spPr>
          <a:xfrm>
            <a:off x="9482328" y="435711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218" name="Text 204"/>
          <p:cNvSpPr txBox="1"/>
          <p:nvPr/>
        </p:nvSpPr>
        <p:spPr>
          <a:xfrm>
            <a:off x="9482328" y="435711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19" name="Shape 205"/>
          <p:cNvSpPr/>
          <p:nvPr/>
        </p:nvSpPr>
        <p:spPr>
          <a:xfrm>
            <a:off x="9811512" y="435711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0" name="Text 206"/>
          <p:cNvSpPr txBox="1"/>
          <p:nvPr/>
        </p:nvSpPr>
        <p:spPr>
          <a:xfrm>
            <a:off x="9811512" y="435711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21" name="Shape 207"/>
          <p:cNvSpPr/>
          <p:nvPr/>
        </p:nvSpPr>
        <p:spPr>
          <a:xfrm>
            <a:off x="10140696" y="435711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222" name="Text 208"/>
          <p:cNvSpPr txBox="1"/>
          <p:nvPr/>
        </p:nvSpPr>
        <p:spPr>
          <a:xfrm>
            <a:off x="10140696" y="435711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23" name="Shape 209"/>
          <p:cNvSpPr/>
          <p:nvPr/>
        </p:nvSpPr>
        <p:spPr>
          <a:xfrm>
            <a:off x="10469880" y="435711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4" name="Text 210"/>
          <p:cNvSpPr txBox="1"/>
          <p:nvPr/>
        </p:nvSpPr>
        <p:spPr>
          <a:xfrm>
            <a:off x="10469880" y="435711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25" name="Shape 211"/>
          <p:cNvSpPr/>
          <p:nvPr/>
        </p:nvSpPr>
        <p:spPr>
          <a:xfrm>
            <a:off x="548640" y="4617720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226" name="Text 212"/>
          <p:cNvSpPr txBox="1"/>
          <p:nvPr/>
        </p:nvSpPr>
        <p:spPr>
          <a:xfrm>
            <a:off x="548640" y="4617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27" name="Text 213"/>
          <p:cNvSpPr txBox="1"/>
          <p:nvPr/>
        </p:nvSpPr>
        <p:spPr>
          <a:xfrm>
            <a:off x="1371600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Luanda</a:t>
            </a:r>
            <a:endParaRPr lang="en-US" sz="1200" dirty="0"/>
          </a:p>
        </p:txBody>
      </p:sp>
      <p:sp>
        <p:nvSpPr>
          <p:cNvPr id="228" name="Text 214"/>
          <p:cNvSpPr txBox="1"/>
          <p:nvPr/>
        </p:nvSpPr>
        <p:spPr>
          <a:xfrm>
            <a:off x="4389120" y="4617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9" name="Text 215"/>
          <p:cNvSpPr txBox="1"/>
          <p:nvPr/>
        </p:nvSpPr>
        <p:spPr>
          <a:xfrm>
            <a:off x="4956048" y="4617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0" name="Text 216"/>
          <p:cNvSpPr txBox="1"/>
          <p:nvPr/>
        </p:nvSpPr>
        <p:spPr>
          <a:xfrm>
            <a:off x="5522976" y="4617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1" name="Text 217"/>
          <p:cNvSpPr txBox="1"/>
          <p:nvPr/>
        </p:nvSpPr>
        <p:spPr>
          <a:xfrm>
            <a:off x="6089904" y="4617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2" name="Text 218"/>
          <p:cNvSpPr txBox="1"/>
          <p:nvPr/>
        </p:nvSpPr>
        <p:spPr>
          <a:xfrm>
            <a:off x="6656832" y="4617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3" name="Text 219"/>
          <p:cNvSpPr txBox="1"/>
          <p:nvPr/>
        </p:nvSpPr>
        <p:spPr>
          <a:xfrm>
            <a:off x="7315200" y="4617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4" name="Text 220"/>
          <p:cNvSpPr txBox="1"/>
          <p:nvPr/>
        </p:nvSpPr>
        <p:spPr>
          <a:xfrm>
            <a:off x="7973568" y="4617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200" dirty="0"/>
          </a:p>
        </p:txBody>
      </p:sp>
      <p:sp>
        <p:nvSpPr>
          <p:cNvPr id="235" name="Text 221"/>
          <p:cNvSpPr txBox="1"/>
          <p:nvPr/>
        </p:nvSpPr>
        <p:spPr>
          <a:xfrm>
            <a:off x="8659368" y="4617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6" name="Shape 222"/>
          <p:cNvSpPr/>
          <p:nvPr/>
        </p:nvSpPr>
        <p:spPr>
          <a:xfrm>
            <a:off x="1024128" y="463600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37" name="Image 11" descr="Emblema FC Luanda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148" y="4655028"/>
            <a:ext cx="199705" cy="199705"/>
          </a:xfrm>
          <a:prstGeom prst="rect">
            <a:avLst/>
          </a:prstGeom>
        </p:spPr>
      </p:pic>
      <p:sp>
        <p:nvSpPr>
          <p:cNvPr id="238" name="Shape 223"/>
          <p:cNvSpPr/>
          <p:nvPr/>
        </p:nvSpPr>
        <p:spPr>
          <a:xfrm>
            <a:off x="9482328" y="465886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239" name="Text 224"/>
          <p:cNvSpPr txBox="1"/>
          <p:nvPr/>
        </p:nvSpPr>
        <p:spPr>
          <a:xfrm>
            <a:off x="9482328" y="465886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40" name="Shape 225"/>
          <p:cNvSpPr/>
          <p:nvPr/>
        </p:nvSpPr>
        <p:spPr>
          <a:xfrm>
            <a:off x="9811512" y="465886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1" name="Text 226"/>
          <p:cNvSpPr txBox="1"/>
          <p:nvPr/>
        </p:nvSpPr>
        <p:spPr>
          <a:xfrm>
            <a:off x="9811512" y="465886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42" name="Shape 227"/>
          <p:cNvSpPr/>
          <p:nvPr/>
        </p:nvSpPr>
        <p:spPr>
          <a:xfrm>
            <a:off x="10140696" y="465886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243" name="Text 228"/>
          <p:cNvSpPr txBox="1"/>
          <p:nvPr/>
        </p:nvSpPr>
        <p:spPr>
          <a:xfrm>
            <a:off x="10140696" y="465886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44" name="Shape 229"/>
          <p:cNvSpPr/>
          <p:nvPr/>
        </p:nvSpPr>
        <p:spPr>
          <a:xfrm>
            <a:off x="10469880" y="465886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5" name="Text 230"/>
          <p:cNvSpPr txBox="1"/>
          <p:nvPr/>
        </p:nvSpPr>
        <p:spPr>
          <a:xfrm>
            <a:off x="10469880" y="465886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46" name="Shape 231"/>
          <p:cNvSpPr/>
          <p:nvPr/>
        </p:nvSpPr>
        <p:spPr>
          <a:xfrm>
            <a:off x="548640" y="4919472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47" name="Text 232"/>
          <p:cNvSpPr txBox="1"/>
          <p:nvPr/>
        </p:nvSpPr>
        <p:spPr>
          <a:xfrm>
            <a:off x="548640" y="4919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48" name="Text 233"/>
          <p:cNvSpPr txBox="1"/>
          <p:nvPr/>
        </p:nvSpPr>
        <p:spPr>
          <a:xfrm>
            <a:off x="1371600" y="4919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Sagrada Esperança</a:t>
            </a:r>
            <a:endParaRPr lang="en-US" sz="1200" dirty="0"/>
          </a:p>
        </p:txBody>
      </p:sp>
      <p:sp>
        <p:nvSpPr>
          <p:cNvPr id="249" name="Text 234"/>
          <p:cNvSpPr txBox="1"/>
          <p:nvPr/>
        </p:nvSpPr>
        <p:spPr>
          <a:xfrm>
            <a:off x="4389120" y="4919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0" name="Text 235"/>
          <p:cNvSpPr txBox="1"/>
          <p:nvPr/>
        </p:nvSpPr>
        <p:spPr>
          <a:xfrm>
            <a:off x="4956048" y="4919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1" name="Text 236"/>
          <p:cNvSpPr txBox="1"/>
          <p:nvPr/>
        </p:nvSpPr>
        <p:spPr>
          <a:xfrm>
            <a:off x="5522976" y="4919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52" name="Text 237"/>
          <p:cNvSpPr txBox="1"/>
          <p:nvPr/>
        </p:nvSpPr>
        <p:spPr>
          <a:xfrm>
            <a:off x="6089904" y="4919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3" name="Text 238"/>
          <p:cNvSpPr txBox="1"/>
          <p:nvPr/>
        </p:nvSpPr>
        <p:spPr>
          <a:xfrm>
            <a:off x="6656832" y="4919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4" name="Text 239"/>
          <p:cNvSpPr txBox="1"/>
          <p:nvPr/>
        </p:nvSpPr>
        <p:spPr>
          <a:xfrm>
            <a:off x="7315200" y="4919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5" name="Text 240"/>
          <p:cNvSpPr txBox="1"/>
          <p:nvPr/>
        </p:nvSpPr>
        <p:spPr>
          <a:xfrm>
            <a:off x="7973568" y="49194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200" dirty="0"/>
          </a:p>
        </p:txBody>
      </p:sp>
      <p:sp>
        <p:nvSpPr>
          <p:cNvPr id="256" name="Text 241"/>
          <p:cNvSpPr txBox="1"/>
          <p:nvPr/>
        </p:nvSpPr>
        <p:spPr>
          <a:xfrm>
            <a:off x="8659368" y="4919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7" name="Shape 242"/>
          <p:cNvSpPr/>
          <p:nvPr/>
        </p:nvSpPr>
        <p:spPr>
          <a:xfrm>
            <a:off x="1024128" y="4937760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58" name="Image 12" descr="Emblema Sagrada Esperanç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148" y="4956780"/>
            <a:ext cx="199705" cy="199705"/>
          </a:xfrm>
          <a:prstGeom prst="rect">
            <a:avLst/>
          </a:prstGeom>
        </p:spPr>
      </p:pic>
      <p:sp>
        <p:nvSpPr>
          <p:cNvPr id="259" name="Shape 243"/>
          <p:cNvSpPr/>
          <p:nvPr/>
        </p:nvSpPr>
        <p:spPr>
          <a:xfrm>
            <a:off x="9482328" y="496062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0" name="Text 244"/>
          <p:cNvSpPr txBox="1"/>
          <p:nvPr/>
        </p:nvSpPr>
        <p:spPr>
          <a:xfrm>
            <a:off x="9482328" y="496062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61" name="Shape 245"/>
          <p:cNvSpPr/>
          <p:nvPr/>
        </p:nvSpPr>
        <p:spPr>
          <a:xfrm>
            <a:off x="9811512" y="496062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262" name="Text 246"/>
          <p:cNvSpPr txBox="1"/>
          <p:nvPr/>
        </p:nvSpPr>
        <p:spPr>
          <a:xfrm>
            <a:off x="9811512" y="496062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63" name="Shape 247"/>
          <p:cNvSpPr/>
          <p:nvPr/>
        </p:nvSpPr>
        <p:spPr>
          <a:xfrm>
            <a:off x="10140696" y="4960620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4" name="Text 248"/>
          <p:cNvSpPr txBox="1"/>
          <p:nvPr/>
        </p:nvSpPr>
        <p:spPr>
          <a:xfrm>
            <a:off x="10140696" y="4960620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65" name="Shape 249"/>
          <p:cNvSpPr/>
          <p:nvPr/>
        </p:nvSpPr>
        <p:spPr>
          <a:xfrm>
            <a:off x="548640" y="5221224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266" name="Text 250"/>
          <p:cNvSpPr txBox="1"/>
          <p:nvPr/>
        </p:nvSpPr>
        <p:spPr>
          <a:xfrm>
            <a:off x="548640" y="5221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67" name="Text 251"/>
          <p:cNvSpPr txBox="1"/>
          <p:nvPr/>
        </p:nvSpPr>
        <p:spPr>
          <a:xfrm>
            <a:off x="1371600" y="5221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Salvador</a:t>
            </a:r>
            <a:endParaRPr lang="en-US" sz="1200" dirty="0"/>
          </a:p>
        </p:txBody>
      </p:sp>
      <p:sp>
        <p:nvSpPr>
          <p:cNvPr id="268" name="Text 252"/>
          <p:cNvSpPr txBox="1"/>
          <p:nvPr/>
        </p:nvSpPr>
        <p:spPr>
          <a:xfrm>
            <a:off x="4389120" y="52212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9" name="Text 253"/>
          <p:cNvSpPr txBox="1"/>
          <p:nvPr/>
        </p:nvSpPr>
        <p:spPr>
          <a:xfrm>
            <a:off x="4956048" y="52212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0" name="Text 254"/>
          <p:cNvSpPr txBox="1"/>
          <p:nvPr/>
        </p:nvSpPr>
        <p:spPr>
          <a:xfrm>
            <a:off x="5522976" y="52212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1" name="Text 255"/>
          <p:cNvSpPr txBox="1"/>
          <p:nvPr/>
        </p:nvSpPr>
        <p:spPr>
          <a:xfrm>
            <a:off x="6089904" y="52212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2" name="Text 256"/>
          <p:cNvSpPr txBox="1"/>
          <p:nvPr/>
        </p:nvSpPr>
        <p:spPr>
          <a:xfrm>
            <a:off x="6656832" y="5221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3" name="Text 257"/>
          <p:cNvSpPr txBox="1"/>
          <p:nvPr/>
        </p:nvSpPr>
        <p:spPr>
          <a:xfrm>
            <a:off x="7315200" y="5221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4" name="Text 258"/>
          <p:cNvSpPr txBox="1"/>
          <p:nvPr/>
        </p:nvSpPr>
        <p:spPr>
          <a:xfrm>
            <a:off x="7973568" y="52212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200" dirty="0"/>
          </a:p>
        </p:txBody>
      </p:sp>
      <p:sp>
        <p:nvSpPr>
          <p:cNvPr id="275" name="Text 259"/>
          <p:cNvSpPr txBox="1"/>
          <p:nvPr/>
        </p:nvSpPr>
        <p:spPr>
          <a:xfrm>
            <a:off x="8659368" y="52212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6" name="Shape 260"/>
          <p:cNvSpPr/>
          <p:nvPr/>
        </p:nvSpPr>
        <p:spPr>
          <a:xfrm>
            <a:off x="1024128" y="52395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77" name="Image 13" descr="Emblema São Salvado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3148" y="5258532"/>
            <a:ext cx="199705" cy="199705"/>
          </a:xfrm>
          <a:prstGeom prst="rect">
            <a:avLst/>
          </a:prstGeom>
        </p:spPr>
      </p:pic>
      <p:sp>
        <p:nvSpPr>
          <p:cNvPr id="278" name="Shape 261"/>
          <p:cNvSpPr/>
          <p:nvPr/>
        </p:nvSpPr>
        <p:spPr>
          <a:xfrm>
            <a:off x="9482328" y="526237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9" name="Text 262"/>
          <p:cNvSpPr txBox="1"/>
          <p:nvPr/>
        </p:nvSpPr>
        <p:spPr>
          <a:xfrm>
            <a:off x="9482328" y="526237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80" name="Shape 263"/>
          <p:cNvSpPr/>
          <p:nvPr/>
        </p:nvSpPr>
        <p:spPr>
          <a:xfrm>
            <a:off x="9811512" y="526237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1" name="Text 264"/>
          <p:cNvSpPr txBox="1"/>
          <p:nvPr/>
        </p:nvSpPr>
        <p:spPr>
          <a:xfrm>
            <a:off x="9811512" y="526237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82" name="Shape 265"/>
          <p:cNvSpPr/>
          <p:nvPr/>
        </p:nvSpPr>
        <p:spPr>
          <a:xfrm>
            <a:off x="10140696" y="5262372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18B66A"/>
          </a:solidFill>
          <a:ln w="12700">
            <a:solidFill>
              <a:srgbClr val="18B66A"/>
            </a:solidFill>
            <a:prstDash val="solid"/>
          </a:ln>
        </p:spPr>
      </p:sp>
      <p:sp>
        <p:nvSpPr>
          <p:cNvPr id="283" name="Text 266"/>
          <p:cNvSpPr txBox="1"/>
          <p:nvPr/>
        </p:nvSpPr>
        <p:spPr>
          <a:xfrm>
            <a:off x="10140696" y="526237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84" name="Shape 267"/>
          <p:cNvSpPr/>
          <p:nvPr/>
        </p:nvSpPr>
        <p:spPr>
          <a:xfrm>
            <a:off x="548640" y="5522976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85" name="Text 268"/>
          <p:cNvSpPr txBox="1"/>
          <p:nvPr/>
        </p:nvSpPr>
        <p:spPr>
          <a:xfrm>
            <a:off x="548640" y="5522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86" name="Text 269"/>
          <p:cNvSpPr txBox="1"/>
          <p:nvPr/>
        </p:nvSpPr>
        <p:spPr>
          <a:xfrm>
            <a:off x="1371600" y="55229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Kabuscorp SC</a:t>
            </a:r>
            <a:endParaRPr lang="en-US" sz="1200" dirty="0"/>
          </a:p>
        </p:txBody>
      </p:sp>
      <p:sp>
        <p:nvSpPr>
          <p:cNvPr id="287" name="Text 270"/>
          <p:cNvSpPr txBox="1"/>
          <p:nvPr/>
        </p:nvSpPr>
        <p:spPr>
          <a:xfrm>
            <a:off x="4389120" y="5522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8" name="Text 271"/>
          <p:cNvSpPr txBox="1"/>
          <p:nvPr/>
        </p:nvSpPr>
        <p:spPr>
          <a:xfrm>
            <a:off x="4956048" y="5522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89" name="Text 272"/>
          <p:cNvSpPr txBox="1"/>
          <p:nvPr/>
        </p:nvSpPr>
        <p:spPr>
          <a:xfrm>
            <a:off x="5522976" y="5522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0" name="Text 273"/>
          <p:cNvSpPr txBox="1"/>
          <p:nvPr/>
        </p:nvSpPr>
        <p:spPr>
          <a:xfrm>
            <a:off x="6089904" y="5522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91" name="Text 274"/>
          <p:cNvSpPr txBox="1"/>
          <p:nvPr/>
        </p:nvSpPr>
        <p:spPr>
          <a:xfrm>
            <a:off x="6656832" y="5522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2" name="Text 275"/>
          <p:cNvSpPr txBox="1"/>
          <p:nvPr/>
        </p:nvSpPr>
        <p:spPr>
          <a:xfrm>
            <a:off x="7315200" y="5522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3" name="Text 276"/>
          <p:cNvSpPr txBox="1"/>
          <p:nvPr/>
        </p:nvSpPr>
        <p:spPr>
          <a:xfrm>
            <a:off x="7973568" y="55229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94" name="Text 277"/>
          <p:cNvSpPr txBox="1"/>
          <p:nvPr/>
        </p:nvSpPr>
        <p:spPr>
          <a:xfrm>
            <a:off x="8659368" y="55229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5" name="Shape 278"/>
          <p:cNvSpPr/>
          <p:nvPr/>
        </p:nvSpPr>
        <p:spPr>
          <a:xfrm>
            <a:off x="1024128" y="554126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96" name="Image 14" descr="Emblema Kabuscorp SC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3148" y="5560284"/>
            <a:ext cx="199705" cy="199705"/>
          </a:xfrm>
          <a:prstGeom prst="rect">
            <a:avLst/>
          </a:prstGeom>
        </p:spPr>
      </p:pic>
      <p:sp>
        <p:nvSpPr>
          <p:cNvPr id="297" name="Shape 279"/>
          <p:cNvSpPr/>
          <p:nvPr/>
        </p:nvSpPr>
        <p:spPr>
          <a:xfrm>
            <a:off x="9482328" y="556412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298" name="Text 280"/>
          <p:cNvSpPr txBox="1"/>
          <p:nvPr/>
        </p:nvSpPr>
        <p:spPr>
          <a:xfrm>
            <a:off x="9482328" y="556412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99" name="Shape 281"/>
          <p:cNvSpPr/>
          <p:nvPr/>
        </p:nvSpPr>
        <p:spPr>
          <a:xfrm>
            <a:off x="9811512" y="5564124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300" name="Text 282"/>
          <p:cNvSpPr txBox="1"/>
          <p:nvPr/>
        </p:nvSpPr>
        <p:spPr>
          <a:xfrm>
            <a:off x="9811512" y="5564124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301" name="Shape 283"/>
          <p:cNvSpPr/>
          <p:nvPr/>
        </p:nvSpPr>
        <p:spPr>
          <a:xfrm>
            <a:off x="548640" y="5824728"/>
            <a:ext cx="11094415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  <a:prstDash val="solid"/>
          </a:ln>
        </p:spPr>
      </p:sp>
      <p:sp>
        <p:nvSpPr>
          <p:cNvPr id="302" name="Text 284"/>
          <p:cNvSpPr txBox="1"/>
          <p:nvPr/>
        </p:nvSpPr>
        <p:spPr>
          <a:xfrm>
            <a:off x="548640" y="5824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03" name="Text 285"/>
          <p:cNvSpPr txBox="1"/>
          <p:nvPr/>
        </p:nvSpPr>
        <p:spPr>
          <a:xfrm>
            <a:off x="1371600" y="5824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Cabinda</a:t>
            </a:r>
            <a:endParaRPr lang="en-US" sz="1200" dirty="0"/>
          </a:p>
        </p:txBody>
      </p:sp>
      <p:sp>
        <p:nvSpPr>
          <p:cNvPr id="304" name="Text 286"/>
          <p:cNvSpPr txBox="1"/>
          <p:nvPr/>
        </p:nvSpPr>
        <p:spPr>
          <a:xfrm>
            <a:off x="4389120" y="5824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5" name="Text 287"/>
          <p:cNvSpPr txBox="1"/>
          <p:nvPr/>
        </p:nvSpPr>
        <p:spPr>
          <a:xfrm>
            <a:off x="4956048" y="5824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06" name="Text 288"/>
          <p:cNvSpPr txBox="1"/>
          <p:nvPr/>
        </p:nvSpPr>
        <p:spPr>
          <a:xfrm>
            <a:off x="5522976" y="5824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7" name="Text 289"/>
          <p:cNvSpPr txBox="1"/>
          <p:nvPr/>
        </p:nvSpPr>
        <p:spPr>
          <a:xfrm>
            <a:off x="6089904" y="5824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8" name="Text 290"/>
          <p:cNvSpPr txBox="1"/>
          <p:nvPr/>
        </p:nvSpPr>
        <p:spPr>
          <a:xfrm>
            <a:off x="6656832" y="5824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9" name="Text 291"/>
          <p:cNvSpPr txBox="1"/>
          <p:nvPr/>
        </p:nvSpPr>
        <p:spPr>
          <a:xfrm>
            <a:off x="7315200" y="5824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10" name="Text 292"/>
          <p:cNvSpPr txBox="1"/>
          <p:nvPr/>
        </p:nvSpPr>
        <p:spPr>
          <a:xfrm>
            <a:off x="7973568" y="5824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200" dirty="0"/>
          </a:p>
        </p:txBody>
      </p:sp>
      <p:sp>
        <p:nvSpPr>
          <p:cNvPr id="311" name="Text 293"/>
          <p:cNvSpPr txBox="1"/>
          <p:nvPr/>
        </p:nvSpPr>
        <p:spPr>
          <a:xfrm>
            <a:off x="8659368" y="5824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2" name="Shape 294"/>
          <p:cNvSpPr/>
          <p:nvPr/>
        </p:nvSpPr>
        <p:spPr>
          <a:xfrm>
            <a:off x="1024128" y="584301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13" name="Image 15" descr="Emblema FC Cabind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3148" y="5862036"/>
            <a:ext cx="199705" cy="199705"/>
          </a:xfrm>
          <a:prstGeom prst="rect">
            <a:avLst/>
          </a:prstGeom>
        </p:spPr>
      </p:pic>
      <p:sp>
        <p:nvSpPr>
          <p:cNvPr id="314" name="Shape 295"/>
          <p:cNvSpPr/>
          <p:nvPr/>
        </p:nvSpPr>
        <p:spPr>
          <a:xfrm>
            <a:off x="9482328" y="586587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5" name="Text 296"/>
          <p:cNvSpPr txBox="1"/>
          <p:nvPr/>
        </p:nvSpPr>
        <p:spPr>
          <a:xfrm>
            <a:off x="9482328" y="586587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16" name="Shape 297"/>
          <p:cNvSpPr/>
          <p:nvPr/>
        </p:nvSpPr>
        <p:spPr>
          <a:xfrm>
            <a:off x="9811512" y="586587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7" name="Text 298"/>
          <p:cNvSpPr txBox="1"/>
          <p:nvPr/>
        </p:nvSpPr>
        <p:spPr>
          <a:xfrm>
            <a:off x="9811512" y="586587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18" name="Shape 299"/>
          <p:cNvSpPr/>
          <p:nvPr/>
        </p:nvSpPr>
        <p:spPr>
          <a:xfrm>
            <a:off x="10140696" y="586587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9" name="Text 300"/>
          <p:cNvSpPr txBox="1"/>
          <p:nvPr/>
        </p:nvSpPr>
        <p:spPr>
          <a:xfrm>
            <a:off x="10140696" y="586587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20" name="Shape 301"/>
          <p:cNvSpPr/>
          <p:nvPr/>
        </p:nvSpPr>
        <p:spPr>
          <a:xfrm>
            <a:off x="10469880" y="5865876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321" name="Text 302"/>
          <p:cNvSpPr txBox="1"/>
          <p:nvPr/>
        </p:nvSpPr>
        <p:spPr>
          <a:xfrm>
            <a:off x="10469880" y="5865876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322" name="Shape 303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323" name="Text 304"/>
          <p:cNvSpPr txBox="1"/>
          <p:nvPr/>
        </p:nvSpPr>
        <p:spPr>
          <a:xfrm>
            <a:off x="548640" y="6126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24" name="Text 305"/>
          <p:cNvSpPr txBox="1"/>
          <p:nvPr/>
        </p:nvSpPr>
        <p:spPr>
          <a:xfrm>
            <a:off x="1371600" y="6126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do Lobito</a:t>
            </a:r>
            <a:endParaRPr lang="en-US" sz="1200" dirty="0"/>
          </a:p>
        </p:txBody>
      </p:sp>
      <p:sp>
        <p:nvSpPr>
          <p:cNvPr id="325" name="Text 306"/>
          <p:cNvSpPr txBox="1"/>
          <p:nvPr/>
        </p:nvSpPr>
        <p:spPr>
          <a:xfrm>
            <a:off x="4389120" y="6126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6" name="Text 307"/>
          <p:cNvSpPr txBox="1"/>
          <p:nvPr/>
        </p:nvSpPr>
        <p:spPr>
          <a:xfrm>
            <a:off x="4956048" y="6126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27" name="Text 308"/>
          <p:cNvSpPr txBox="1"/>
          <p:nvPr/>
        </p:nvSpPr>
        <p:spPr>
          <a:xfrm>
            <a:off x="5522976" y="6126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28" name="Text 309"/>
          <p:cNvSpPr txBox="1"/>
          <p:nvPr/>
        </p:nvSpPr>
        <p:spPr>
          <a:xfrm>
            <a:off x="6089904" y="6126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9" name="Text 310"/>
          <p:cNvSpPr txBox="1"/>
          <p:nvPr/>
        </p:nvSpPr>
        <p:spPr>
          <a:xfrm>
            <a:off x="6656832" y="6126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30" name="Text 311"/>
          <p:cNvSpPr txBox="1"/>
          <p:nvPr/>
        </p:nvSpPr>
        <p:spPr>
          <a:xfrm>
            <a:off x="7315200" y="6126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31" name="Text 312"/>
          <p:cNvSpPr txBox="1"/>
          <p:nvPr/>
        </p:nvSpPr>
        <p:spPr>
          <a:xfrm>
            <a:off x="7973568" y="6126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200" dirty="0"/>
          </a:p>
        </p:txBody>
      </p:sp>
      <p:sp>
        <p:nvSpPr>
          <p:cNvPr id="332" name="Text 313"/>
          <p:cNvSpPr txBox="1"/>
          <p:nvPr/>
        </p:nvSpPr>
        <p:spPr>
          <a:xfrm>
            <a:off x="8659368" y="6126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33" name="Shape 314"/>
          <p:cNvSpPr/>
          <p:nvPr/>
        </p:nvSpPr>
        <p:spPr>
          <a:xfrm>
            <a:off x="1024128" y="61447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34" name="Image 16" descr="Emblema Académica do Lobit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3148" y="6163788"/>
            <a:ext cx="199705" cy="199705"/>
          </a:xfrm>
          <a:prstGeom prst="rect">
            <a:avLst/>
          </a:prstGeom>
        </p:spPr>
      </p:pic>
      <p:sp>
        <p:nvSpPr>
          <p:cNvPr id="335" name="Shape 315"/>
          <p:cNvSpPr/>
          <p:nvPr/>
        </p:nvSpPr>
        <p:spPr>
          <a:xfrm>
            <a:off x="9482328" y="616762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6" name="Text 316"/>
          <p:cNvSpPr txBox="1"/>
          <p:nvPr/>
        </p:nvSpPr>
        <p:spPr>
          <a:xfrm>
            <a:off x="9482328" y="616762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37" name="Shape 317"/>
          <p:cNvSpPr/>
          <p:nvPr/>
        </p:nvSpPr>
        <p:spPr>
          <a:xfrm>
            <a:off x="9811512" y="616762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8" name="Text 318"/>
          <p:cNvSpPr txBox="1"/>
          <p:nvPr/>
        </p:nvSpPr>
        <p:spPr>
          <a:xfrm>
            <a:off x="9811512" y="616762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39" name="Shape 319"/>
          <p:cNvSpPr/>
          <p:nvPr/>
        </p:nvSpPr>
        <p:spPr>
          <a:xfrm>
            <a:off x="10140696" y="616762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0" name="Text 320"/>
          <p:cNvSpPr txBox="1"/>
          <p:nvPr/>
        </p:nvSpPr>
        <p:spPr>
          <a:xfrm>
            <a:off x="10140696" y="616762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1" name="Shape 321"/>
          <p:cNvSpPr/>
          <p:nvPr/>
        </p:nvSpPr>
        <p:spPr>
          <a:xfrm>
            <a:off x="10469880" y="6167628"/>
            <a:ext cx="256032" cy="192024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2" name="Text 322"/>
          <p:cNvSpPr txBox="1"/>
          <p:nvPr/>
        </p:nvSpPr>
        <p:spPr>
          <a:xfrm>
            <a:off x="10469880" y="6167628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3" name="Text 323"/>
          <p:cNvSpPr txBox="1"/>
          <p:nvPr/>
        </p:nvSpPr>
        <p:spPr>
          <a:xfrm>
            <a:off x="7498080" y="6473952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Petro, Bravos, Sagrada e São Salvador: 3 J · Kabuscorp: 2 J</a:t>
            </a:r>
            <a:endParaRPr lang="en-US" sz="900" dirty="0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ofensiva por equipa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25880"/>
          <a:ext cx="72237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092440" y="132588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ofensiva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8092440" y="181051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275320" y="199339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1" name="Image 1" descr="Emblema Wiliete de Bengue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989" y="2046061"/>
            <a:ext cx="553029" cy="55302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079992" y="19202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3" name="Text 7"/>
          <p:cNvSpPr txBox="1"/>
          <p:nvPr/>
        </p:nvSpPr>
        <p:spPr>
          <a:xfrm>
            <a:off x="10195560" y="194767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ataque: Wiliete SC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9079992" y="248716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 golos por jogo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8092440" y="299923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275320" y="318211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7" name="Image 2" descr="Emblema Petro de Luan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989" y="3234781"/>
            <a:ext cx="553029" cy="55302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79992" y="31089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</a:t>
            </a:r>
            <a:endParaRPr lang="en-US" sz="3200" dirty="0"/>
          </a:p>
        </p:txBody>
      </p:sp>
      <p:sp>
        <p:nvSpPr>
          <p:cNvPr id="19" name="Text 12"/>
          <p:cNvSpPr txBox="1"/>
          <p:nvPr/>
        </p:nvSpPr>
        <p:spPr>
          <a:xfrm>
            <a:off x="10195560" y="313639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Petro de Luanda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9079992" y="367588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golos em apenas 3 jogos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8092440" y="418795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275320" y="437083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3" name="Image 3" descr="Emblema Wiliete de Bengue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989" y="4423501"/>
            <a:ext cx="553029" cy="55302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079992" y="42976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Text 17"/>
          <p:cNvSpPr txBox="1"/>
          <p:nvPr/>
        </p:nvSpPr>
        <p:spPr>
          <a:xfrm>
            <a:off x="10195560" y="432511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Mabululu decide em Benguela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9079992" y="486460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ao FC Luanda na 4.ª jornada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8092440" y="537667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275320" y="555955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9" name="Image 4" descr="Emblema Académica do Lobi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989" y="5612221"/>
            <a:ext cx="553029" cy="553029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079992" y="54864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31" name="Text 22"/>
          <p:cNvSpPr txBox="1"/>
          <p:nvPr/>
        </p:nvSpPr>
        <p:spPr>
          <a:xfrm>
            <a:off x="10195560" y="551383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em branco: Académica Lobito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9079992" y="605332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golos em 4 jogos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8092440" y="647395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golos em 29 jogos na época · média 2,21 por jogo</a:t>
            </a:r>
            <a:endParaRPr lang="en-US" sz="900" dirty="0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defensiva: golos sofridos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25880"/>
          <a:ext cx="72237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092440" y="132588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defensiva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8092440" y="181051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275320" y="199339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1" name="Image 1" descr="Emblema Petro de Luan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989" y="2046061"/>
            <a:ext cx="553029" cy="55302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079992" y="19202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7"/>
          <p:cNvSpPr txBox="1"/>
          <p:nvPr/>
        </p:nvSpPr>
        <p:spPr>
          <a:xfrm>
            <a:off x="10195560" y="194767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Baliza inviolada: Petro de Luanda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9079992" y="248716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jogos sem sofrer golos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8092440" y="299923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275320" y="318211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7" name="Image 2" descr="Emblema Wiliete de Bengue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989" y="3234781"/>
            <a:ext cx="553029" cy="55302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79992" y="31089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9" name="Text 12"/>
          <p:cNvSpPr txBox="1"/>
          <p:nvPr/>
        </p:nvSpPr>
        <p:spPr>
          <a:xfrm>
            <a:off x="10195560" y="313639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Wiliete: 1 golo sofrido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9079992" y="367588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jogos sem sofrer em 4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8092440" y="418795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275320" y="437083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3" name="Image 3" descr="Emblema Académica do Lobi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989" y="4423501"/>
            <a:ext cx="553029" cy="55302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079992" y="42976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5" name="Text 17"/>
          <p:cNvSpPr txBox="1"/>
          <p:nvPr/>
        </p:nvSpPr>
        <p:spPr>
          <a:xfrm>
            <a:off x="10195560" y="432511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batida: Académica Lobito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9079992" y="486460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golos sofridos por jogo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8092440" y="5376672"/>
            <a:ext cx="3550615" cy="1024128"/>
          </a:xfrm>
          <a:prstGeom prst="roundRect">
            <a:avLst>
              <a:gd name="adj" fmla="val 7143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275320" y="555955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9" name="Image 4" descr="Emblema FC Cabind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989" y="5612221"/>
            <a:ext cx="553029" cy="553029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079992" y="54864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31" name="Text 22"/>
          <p:cNvSpPr txBox="1"/>
          <p:nvPr/>
        </p:nvSpPr>
        <p:spPr>
          <a:xfrm>
            <a:off x="10195560" y="5513832"/>
            <a:ext cx="1310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Cabinda em alerta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9079992" y="605332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sofridos por jogo</a:t>
            </a:r>
            <a:endParaRPr lang="en-US" sz="1050" dirty="0"/>
          </a:p>
        </p:txBody>
      </p:sp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amarelos e vermelhos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25880"/>
          <a:ext cx="72237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092440" y="132588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4.ª jornada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8092440" y="1810512"/>
            <a:ext cx="1683868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959188" y="1810512"/>
            <a:ext cx="1683868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321040" y="2011680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732520" y="190195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0187788" y="2011680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599268" y="190195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1"/>
          <p:cNvSpPr txBox="1"/>
          <p:nvPr/>
        </p:nvSpPr>
        <p:spPr>
          <a:xfrm>
            <a:off x="10187788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92440" y="3090672"/>
            <a:ext cx="3550615" cy="3264408"/>
          </a:xfrm>
          <a:prstGeom prst="roundRect">
            <a:avLst>
              <a:gd name="adj" fmla="val 2241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21040" y="3200400"/>
            <a:ext cx="3093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por jogo (amarelos · vermelhos)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321040" y="354787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0" name="Image 1" descr="Emblema FC Cabin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449" y="3571281"/>
            <a:ext cx="245791" cy="24579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659368" y="354787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2" name="Image 2" descr="Emblema CD 1.º de Ago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777" y="3571281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052560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Cabinda–1.º de Agosto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10774375" y="35478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r" indent="0" marL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321040" y="395935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6" name="Image 3" descr="Emblema GD Interclu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4449" y="3982761"/>
            <a:ext cx="245791" cy="245791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659368" y="395935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8" name="Image 4" descr="Emblema Académica do Lobi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777" y="3982761"/>
            <a:ext cx="245791" cy="245791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052560" y="3959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Interclube–Académica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10774375" y="39593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r" indent="0" marL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321040" y="437083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2" name="Image 5" descr="Emblema Desportivo da Lunda Su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4449" y="4394241"/>
            <a:ext cx="245791" cy="245791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659368" y="437083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4" name="Image 6" descr="Emblema Sagrada Esperanç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2777" y="4394241"/>
            <a:ext cx="245791" cy="245791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052560" y="4370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Lunda Sul–Sagrada</a:t>
            </a:r>
            <a:endParaRPr lang="en-US" sz="1050" dirty="0"/>
          </a:p>
        </p:txBody>
      </p:sp>
      <p:sp>
        <p:nvSpPr>
          <p:cNvPr id="36" name="Text 25"/>
          <p:cNvSpPr txBox="1"/>
          <p:nvPr/>
        </p:nvSpPr>
        <p:spPr>
          <a:xfrm>
            <a:off x="10774375" y="43708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r" indent="0" marL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8321040" y="478231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8" name="Image 7" descr="Emblema Recreativo do Libol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4449" y="4805721"/>
            <a:ext cx="245791" cy="245791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8659368" y="478231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0" name="Image 8" descr="Emblema Estrela 1.º de Mai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2777" y="4805721"/>
            <a:ext cx="245791" cy="245791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9052560" y="4782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Libolo–Estrela 1.º Maio</a:t>
            </a:r>
            <a:endParaRPr lang="en-US" sz="1050" dirty="0"/>
          </a:p>
        </p:txBody>
      </p:sp>
      <p:sp>
        <p:nvSpPr>
          <p:cNvPr id="42" name="Text 29"/>
          <p:cNvSpPr txBox="1"/>
          <p:nvPr/>
        </p:nvSpPr>
        <p:spPr>
          <a:xfrm>
            <a:off x="10774375" y="4782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r" indent="0" marL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8321040" y="519379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4" name="Image 9" descr="Emblema CR Caál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4449" y="5217201"/>
            <a:ext cx="245791" cy="245791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8659368" y="519379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6" name="Image 10" descr="Emblema Desportivo da Huíla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2777" y="5217201"/>
            <a:ext cx="245791" cy="245791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9052560" y="5193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Caála–Huíla</a:t>
            </a:r>
            <a:endParaRPr lang="en-US" sz="1050" dirty="0"/>
          </a:p>
        </p:txBody>
      </p:sp>
      <p:sp>
        <p:nvSpPr>
          <p:cNvPr id="48" name="Text 33"/>
          <p:cNvSpPr txBox="1"/>
          <p:nvPr/>
        </p:nvSpPr>
        <p:spPr>
          <a:xfrm>
            <a:off x="10774375" y="51937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r" indent="0" marL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34"/>
          <p:cNvSpPr/>
          <p:nvPr/>
        </p:nvSpPr>
        <p:spPr>
          <a:xfrm>
            <a:off x="8321040" y="560527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0" name="Image 11" descr="Emblema Wiliete de Benguel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4449" y="5628681"/>
            <a:ext cx="245791" cy="245791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8659368" y="560527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2" name="Image 12" descr="Emblema FC Luanda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2777" y="5628681"/>
            <a:ext cx="245791" cy="245791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9052560" y="5605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SC–FC Luanda</a:t>
            </a:r>
            <a:endParaRPr lang="en-US" sz="1050" dirty="0"/>
          </a:p>
        </p:txBody>
      </p:sp>
      <p:sp>
        <p:nvSpPr>
          <p:cNvPr id="54" name="Text 37"/>
          <p:cNvSpPr txBox="1"/>
          <p:nvPr/>
        </p:nvSpPr>
        <p:spPr>
          <a:xfrm>
            <a:off x="10774375" y="56052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r"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r" indent="0" marL="0">
              <a:buNone/>
            </a:pPr>
            <a:r>
              <a:rPr lang="en-US" sz="1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marcadores da época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48640" y="14173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15270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280160" y="1527048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0" name="Image 1" descr="Emblema CD 1.º de Ago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051" y="1570939"/>
            <a:ext cx="460858" cy="46085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965960" y="1508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Dagó Tshibamba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965960" y="1837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1.º de Agosto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5458968" y="1783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2350008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24597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1280160" y="2459736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8" name="Image 2" descr="Emblema CD 1.º de Agos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51" y="2503627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965960" y="2441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Gaudêncio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965960" y="2770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1.º de Agosto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892040" y="2441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5458968" y="2715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28269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33924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280160" y="3392424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6" name="Image 3" descr="Emblema CR Caá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51" y="3436315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965960" y="33741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Benvindo Miguel André Afonso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96596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Caála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892040" y="3374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5458968" y="3648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8640" y="421538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31520" y="4325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1280160" y="4325112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4" name="Image 4" descr="Emblema FC Lua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051" y="4369003"/>
            <a:ext cx="460858" cy="46085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965960" y="43068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Caetano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965960" y="4636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Luanda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4892040" y="43068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5458968" y="45811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514807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31520" y="5257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41" name="Shape 33"/>
          <p:cNvSpPr/>
          <p:nvPr/>
        </p:nvSpPr>
        <p:spPr>
          <a:xfrm>
            <a:off x="1280160" y="5257800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2" name="Image 5" descr="Emblema FC Cabind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051" y="5301691"/>
            <a:ext cx="460858" cy="46085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965960" y="52395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Luyeye Tomás Tomás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1965960" y="5568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Cabinda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4892040" y="52395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46" name="Text 37"/>
          <p:cNvSpPr txBox="1"/>
          <p:nvPr/>
        </p:nvSpPr>
        <p:spPr>
          <a:xfrm>
            <a:off x="5458968" y="5513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217920" y="14173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6400800" y="15270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49" name="Shape 40"/>
          <p:cNvSpPr/>
          <p:nvPr/>
        </p:nvSpPr>
        <p:spPr>
          <a:xfrm>
            <a:off x="6949440" y="1527048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0" name="Image 6" descr="Emblema Wiliete de Benguel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3331" y="1570939"/>
            <a:ext cx="460858" cy="460858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7635240" y="1508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Mabululu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7635240" y="1837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de Benguela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10561320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4" name="Text 44"/>
          <p:cNvSpPr txBox="1"/>
          <p:nvPr/>
        </p:nvSpPr>
        <p:spPr>
          <a:xfrm>
            <a:off x="11128248" y="1783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6217920" y="2350008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6400800" y="24597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57" name="Shape 47"/>
          <p:cNvSpPr/>
          <p:nvPr/>
        </p:nvSpPr>
        <p:spPr>
          <a:xfrm>
            <a:off x="6949440" y="2459736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8" name="Image 7" descr="Emblema Desportivo da Huí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3331" y="2503627"/>
            <a:ext cx="460858" cy="460858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635240" y="2441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Milagre Carlos Simba</a:t>
            </a:r>
            <a:endParaRPr lang="en-US" sz="1500" dirty="0"/>
          </a:p>
        </p:txBody>
      </p:sp>
      <p:sp>
        <p:nvSpPr>
          <p:cNvPr id="60" name="Text 49"/>
          <p:cNvSpPr txBox="1"/>
          <p:nvPr/>
        </p:nvSpPr>
        <p:spPr>
          <a:xfrm>
            <a:off x="7635240" y="2770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Desportivo da Huíla</a:t>
            </a:r>
            <a:endParaRPr lang="en-US" sz="1100" dirty="0"/>
          </a:p>
        </p:txBody>
      </p:sp>
      <p:sp>
        <p:nvSpPr>
          <p:cNvPr id="61" name="Text 50"/>
          <p:cNvSpPr txBox="1"/>
          <p:nvPr/>
        </p:nvSpPr>
        <p:spPr>
          <a:xfrm>
            <a:off x="10561320" y="2441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62" name="Text 51"/>
          <p:cNvSpPr txBox="1"/>
          <p:nvPr/>
        </p:nvSpPr>
        <p:spPr>
          <a:xfrm>
            <a:off x="11128248" y="2715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6217920" y="328269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6400800" y="33924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65" name="Shape 54"/>
          <p:cNvSpPr/>
          <p:nvPr/>
        </p:nvSpPr>
        <p:spPr>
          <a:xfrm>
            <a:off x="6949440" y="3392424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66" name="Image 8" descr="Emblema Recreativo do Libol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3331" y="3436315"/>
            <a:ext cx="460858" cy="460858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7635240" y="33741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Mendes</a:t>
            </a:r>
            <a:endParaRPr lang="en-US" sz="1500" dirty="0"/>
          </a:p>
        </p:txBody>
      </p:sp>
      <p:sp>
        <p:nvSpPr>
          <p:cNvPr id="68" name="Text 56"/>
          <p:cNvSpPr txBox="1"/>
          <p:nvPr/>
        </p:nvSpPr>
        <p:spPr>
          <a:xfrm>
            <a:off x="76352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Recreativo do Libolo</a:t>
            </a:r>
            <a:endParaRPr lang="en-US" sz="1100" dirty="0"/>
          </a:p>
        </p:txBody>
      </p:sp>
      <p:sp>
        <p:nvSpPr>
          <p:cNvPr id="69" name="Text 57"/>
          <p:cNvSpPr txBox="1"/>
          <p:nvPr/>
        </p:nvSpPr>
        <p:spPr>
          <a:xfrm>
            <a:off x="10561320" y="3374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70" name="Text 58"/>
          <p:cNvSpPr txBox="1"/>
          <p:nvPr/>
        </p:nvSpPr>
        <p:spPr>
          <a:xfrm>
            <a:off x="11128248" y="3648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  <p:sp>
        <p:nvSpPr>
          <p:cNvPr id="71" name="Shape 59"/>
          <p:cNvSpPr/>
          <p:nvPr/>
        </p:nvSpPr>
        <p:spPr>
          <a:xfrm>
            <a:off x="6217920" y="421538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72" name="Text 60"/>
          <p:cNvSpPr txBox="1"/>
          <p:nvPr/>
        </p:nvSpPr>
        <p:spPr>
          <a:xfrm>
            <a:off x="6400800" y="4325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</a:t>
            </a:r>
            <a:endParaRPr lang="en-US" sz="1800" dirty="0"/>
          </a:p>
        </p:txBody>
      </p:sp>
      <p:sp>
        <p:nvSpPr>
          <p:cNvPr id="73" name="Shape 61"/>
          <p:cNvSpPr/>
          <p:nvPr/>
        </p:nvSpPr>
        <p:spPr>
          <a:xfrm>
            <a:off x="6949440" y="4325112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74" name="Image 9" descr="Emblema Petro de Luand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3331" y="4369003"/>
            <a:ext cx="460858" cy="460858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7635240" y="43068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Azulão</a:t>
            </a:r>
            <a:endParaRPr lang="en-US" sz="1500" dirty="0"/>
          </a:p>
        </p:txBody>
      </p:sp>
      <p:sp>
        <p:nvSpPr>
          <p:cNvPr id="76" name="Text 63"/>
          <p:cNvSpPr txBox="1"/>
          <p:nvPr/>
        </p:nvSpPr>
        <p:spPr>
          <a:xfrm>
            <a:off x="7635240" y="4636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de Luanda</a:t>
            </a:r>
            <a:endParaRPr lang="en-US" sz="1100" dirty="0"/>
          </a:p>
        </p:txBody>
      </p:sp>
      <p:sp>
        <p:nvSpPr>
          <p:cNvPr id="77" name="Text 64"/>
          <p:cNvSpPr txBox="1"/>
          <p:nvPr/>
        </p:nvSpPr>
        <p:spPr>
          <a:xfrm>
            <a:off x="10561320" y="43068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78" name="Text 65"/>
          <p:cNvSpPr txBox="1"/>
          <p:nvPr/>
        </p:nvSpPr>
        <p:spPr>
          <a:xfrm>
            <a:off x="11128248" y="45811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golos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ANTEVISÃO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confrontos: 5.ª jornada</a:t>
            </a:r>
            <a:endParaRPr lang="en-US" sz="3000" dirty="0"/>
          </a:p>
        </p:txBody>
      </p:sp>
      <p:pic>
        <p:nvPicPr>
          <p:cNvPr id="4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524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Relatórios do Árbitro (FCMS) e calendário oficial ANCAF · dados atualizados a 15/09/2026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9" name="Image 1" descr="Emblema CD 1.º de Ago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74" y="1581546"/>
            <a:ext cx="476220" cy="4762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149961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de Agosto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417320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lugar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2907792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273552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4" name="Image 2" descr="Emblema FC Luan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06" y="1581546"/>
            <a:ext cx="476220" cy="4762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50208" y="1499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Luanda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3950208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11.º lugar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" y="2176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19/09 · 15:30 · Estádio França N’dalu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846320" y="217627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846320" y="21762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· Zsports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217920" y="13716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0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2" name="Image 3" descr="Emblema CR Caá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154" y="1581546"/>
            <a:ext cx="476220" cy="4762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86600" y="149961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Caála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086600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10.º lugar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8577072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942832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27" name="Image 4" descr="Emblema Bravos do Maqui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186" y="1581546"/>
            <a:ext cx="476220" cy="4762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619488" y="1499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Bravos do Maquis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9619488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5.º lugar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6400800" y="2176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15:00 · Estádio dos Mártires da Canhala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0789920" y="2176272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0789920" y="21762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548640" y="2633472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31520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35" name="Image 5" descr="Emblema Estrela 1.º de Mai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74" y="2843418"/>
            <a:ext cx="476220" cy="4762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 1.º Maio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1417320" y="3090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9.º lugar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290779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3273552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0" name="Image 6" descr="Emblema Desportivo da Lunda Su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8906" y="2843418"/>
            <a:ext cx="476220" cy="4762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950208" y="2761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Desp. Lunda Sul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3950208" y="3090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8.º lugar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731520" y="34381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15:00 · Estádio de São Filipe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120640" y="3438144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120640" y="34381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217920" y="2633472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400800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48" name="Image 7" descr="Emblema Kabuscorp SC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154" y="2843418"/>
            <a:ext cx="476220" cy="47622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08660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Kabuscorp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7086600" y="3090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14.º lugar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857707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8942832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53" name="Image 8" descr="Emblema GD Interclub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8186" y="2843418"/>
            <a:ext cx="476220" cy="476220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9619488" y="2761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Interclube</a:t>
            </a:r>
            <a:endParaRPr lang="en-US" sz="1300" dirty="0"/>
          </a:p>
        </p:txBody>
      </p:sp>
      <p:sp>
        <p:nvSpPr>
          <p:cNvPr id="55" name="Text 43"/>
          <p:cNvSpPr txBox="1"/>
          <p:nvPr/>
        </p:nvSpPr>
        <p:spPr>
          <a:xfrm>
            <a:off x="9619488" y="3090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3.º lugar</a:t>
            </a:r>
            <a:endParaRPr lang="en-US" sz="1000" dirty="0"/>
          </a:p>
        </p:txBody>
      </p:sp>
      <p:sp>
        <p:nvSpPr>
          <p:cNvPr id="56" name="Text 44"/>
          <p:cNvSpPr txBox="1"/>
          <p:nvPr/>
        </p:nvSpPr>
        <p:spPr>
          <a:xfrm>
            <a:off x="6400800" y="34381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15:00 · Estádio França Ndalu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10515600" y="343814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10515600" y="34381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· Zsports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548640" y="3895344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731520" y="405993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61" name="Image 9" descr="Emblema São Salvado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874" y="4105290"/>
            <a:ext cx="476220" cy="47622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1417320" y="4023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Salvador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1417320" y="4352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13.º lugar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2907792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65" name="Shape 52"/>
          <p:cNvSpPr/>
          <p:nvPr/>
        </p:nvSpPr>
        <p:spPr>
          <a:xfrm>
            <a:off x="3273552" y="405993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66" name="Image 10" descr="Emblema FC Cabind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8906" y="4105290"/>
            <a:ext cx="476220" cy="47622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3950208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Cabinda</a:t>
            </a:r>
            <a:endParaRPr lang="en-US" sz="1300" dirty="0"/>
          </a:p>
        </p:txBody>
      </p:sp>
      <p:sp>
        <p:nvSpPr>
          <p:cNvPr id="68" name="Text 54"/>
          <p:cNvSpPr txBox="1"/>
          <p:nvPr/>
        </p:nvSpPr>
        <p:spPr>
          <a:xfrm>
            <a:off x="3950208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15.º lugar</a:t>
            </a:r>
            <a:endParaRPr lang="en-US" sz="1000" dirty="0"/>
          </a:p>
        </p:txBody>
      </p:sp>
      <p:sp>
        <p:nvSpPr>
          <p:cNvPr id="69" name="Text 55"/>
          <p:cNvSpPr txBox="1"/>
          <p:nvPr/>
        </p:nvSpPr>
        <p:spPr>
          <a:xfrm>
            <a:off x="731520" y="47000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15:00 · Estádio Álvaro Buta</a:t>
            </a:r>
            <a:endParaRPr lang="en-US" sz="1000" dirty="0"/>
          </a:p>
        </p:txBody>
      </p:sp>
      <p:sp>
        <p:nvSpPr>
          <p:cNvPr id="70" name="Shape 56"/>
          <p:cNvSpPr/>
          <p:nvPr/>
        </p:nvSpPr>
        <p:spPr>
          <a:xfrm>
            <a:off x="5120640" y="4700016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71" name="Text 57"/>
          <p:cNvSpPr txBox="1"/>
          <p:nvPr/>
        </p:nvSpPr>
        <p:spPr>
          <a:xfrm>
            <a:off x="5120640" y="47000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217920" y="3895344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73" name="Shape 59"/>
          <p:cNvSpPr/>
          <p:nvPr/>
        </p:nvSpPr>
        <p:spPr>
          <a:xfrm>
            <a:off x="6400800" y="405993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74" name="Image 11" descr="Emblema Sagrada Esperança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154" y="4105290"/>
            <a:ext cx="476220" cy="476220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086600" y="4023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Sagrada Esperança</a:t>
            </a:r>
            <a:endParaRPr lang="en-US" sz="1300" dirty="0"/>
          </a:p>
        </p:txBody>
      </p:sp>
      <p:sp>
        <p:nvSpPr>
          <p:cNvPr id="76" name="Text 61"/>
          <p:cNvSpPr txBox="1"/>
          <p:nvPr/>
        </p:nvSpPr>
        <p:spPr>
          <a:xfrm>
            <a:off x="7086600" y="4352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12.º lugar</a:t>
            </a:r>
            <a:endParaRPr lang="en-US" sz="1000" dirty="0"/>
          </a:p>
        </p:txBody>
      </p:sp>
      <p:sp>
        <p:nvSpPr>
          <p:cNvPr id="77" name="Text 62"/>
          <p:cNvSpPr txBox="1"/>
          <p:nvPr/>
        </p:nvSpPr>
        <p:spPr>
          <a:xfrm>
            <a:off x="8577072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78" name="Shape 63"/>
          <p:cNvSpPr/>
          <p:nvPr/>
        </p:nvSpPr>
        <p:spPr>
          <a:xfrm>
            <a:off x="8942832" y="405993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79" name="Image 12" descr="Emblema Petro de Luand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8186" y="4105290"/>
            <a:ext cx="476220" cy="476220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9619488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de Luanda</a:t>
            </a:r>
            <a:endParaRPr lang="en-US" sz="1300" dirty="0"/>
          </a:p>
        </p:txBody>
      </p:sp>
      <p:sp>
        <p:nvSpPr>
          <p:cNvPr id="81" name="Text 65"/>
          <p:cNvSpPr txBox="1"/>
          <p:nvPr/>
        </p:nvSpPr>
        <p:spPr>
          <a:xfrm>
            <a:off x="9619488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4.º lugar</a:t>
            </a:r>
            <a:endParaRPr lang="en-US" sz="1000" dirty="0"/>
          </a:p>
        </p:txBody>
      </p:sp>
      <p:sp>
        <p:nvSpPr>
          <p:cNvPr id="82" name="Text 66"/>
          <p:cNvSpPr txBox="1"/>
          <p:nvPr/>
        </p:nvSpPr>
        <p:spPr>
          <a:xfrm>
            <a:off x="6400800" y="47000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15:30 · Estádio do Sagrada Esperança</a:t>
            </a:r>
            <a:endParaRPr lang="en-US" sz="1000" dirty="0"/>
          </a:p>
        </p:txBody>
      </p:sp>
      <p:sp>
        <p:nvSpPr>
          <p:cNvPr id="83" name="Shape 67"/>
          <p:cNvSpPr/>
          <p:nvPr/>
        </p:nvSpPr>
        <p:spPr>
          <a:xfrm>
            <a:off x="10789920" y="4700016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4" name="Text 68"/>
          <p:cNvSpPr txBox="1"/>
          <p:nvPr/>
        </p:nvSpPr>
        <p:spPr>
          <a:xfrm>
            <a:off x="10789920" y="47000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85" name="Shape 69"/>
          <p:cNvSpPr/>
          <p:nvPr/>
        </p:nvSpPr>
        <p:spPr>
          <a:xfrm>
            <a:off x="548640" y="5157216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86" name="Shape 70"/>
          <p:cNvSpPr/>
          <p:nvPr/>
        </p:nvSpPr>
        <p:spPr>
          <a:xfrm>
            <a:off x="731520" y="5321808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87" name="Image 13" descr="Emblema Desportivo da Huíla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874" y="5367162"/>
            <a:ext cx="476220" cy="476220"/>
          </a:xfrm>
          <a:prstGeom prst="rect">
            <a:avLst/>
          </a:prstGeom>
        </p:spPr>
      </p:pic>
      <p:sp>
        <p:nvSpPr>
          <p:cNvPr id="88" name="Text 71"/>
          <p:cNvSpPr txBox="1"/>
          <p:nvPr/>
        </p:nvSpPr>
        <p:spPr>
          <a:xfrm>
            <a:off x="1417320" y="52852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Desp. da Huíla</a:t>
            </a:r>
            <a:endParaRPr lang="en-US" sz="1300" dirty="0"/>
          </a:p>
        </p:txBody>
      </p:sp>
      <p:sp>
        <p:nvSpPr>
          <p:cNvPr id="89" name="Text 72"/>
          <p:cNvSpPr txBox="1"/>
          <p:nvPr/>
        </p:nvSpPr>
        <p:spPr>
          <a:xfrm>
            <a:off x="1417320" y="56144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7.º lugar</a:t>
            </a:r>
            <a:endParaRPr lang="en-US" sz="1000" dirty="0"/>
          </a:p>
        </p:txBody>
      </p:sp>
      <p:sp>
        <p:nvSpPr>
          <p:cNvPr id="90" name="Text 73"/>
          <p:cNvSpPr txBox="1"/>
          <p:nvPr/>
        </p:nvSpPr>
        <p:spPr>
          <a:xfrm>
            <a:off x="2907792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91" name="Shape 74"/>
          <p:cNvSpPr/>
          <p:nvPr/>
        </p:nvSpPr>
        <p:spPr>
          <a:xfrm>
            <a:off x="3273552" y="5321808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92" name="Image 14" descr="Emblema Académica do Lobit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18906" y="5367162"/>
            <a:ext cx="476220" cy="476220"/>
          </a:xfrm>
          <a:prstGeom prst="rect">
            <a:avLst/>
          </a:prstGeom>
        </p:spPr>
      </p:pic>
      <p:sp>
        <p:nvSpPr>
          <p:cNvPr id="93" name="Text 75"/>
          <p:cNvSpPr txBox="1"/>
          <p:nvPr/>
        </p:nvSpPr>
        <p:spPr>
          <a:xfrm>
            <a:off x="3950208" y="5285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Lobito</a:t>
            </a:r>
            <a:endParaRPr lang="en-US" sz="1300" dirty="0"/>
          </a:p>
        </p:txBody>
      </p:sp>
      <p:sp>
        <p:nvSpPr>
          <p:cNvPr id="94" name="Text 76"/>
          <p:cNvSpPr txBox="1"/>
          <p:nvPr/>
        </p:nvSpPr>
        <p:spPr>
          <a:xfrm>
            <a:off x="3950208" y="5614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16.º lugar</a:t>
            </a:r>
            <a:endParaRPr lang="en-US" sz="1000" dirty="0"/>
          </a:p>
        </p:txBody>
      </p:sp>
      <p:sp>
        <p:nvSpPr>
          <p:cNvPr id="95" name="Text 77"/>
          <p:cNvSpPr txBox="1"/>
          <p:nvPr/>
        </p:nvSpPr>
        <p:spPr>
          <a:xfrm>
            <a:off x="731520" y="5961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15:30 · Estádio da Tundavala</a:t>
            </a:r>
            <a:endParaRPr lang="en-US" sz="1000" dirty="0"/>
          </a:p>
        </p:txBody>
      </p:sp>
      <p:sp>
        <p:nvSpPr>
          <p:cNvPr id="96" name="Shape 78"/>
          <p:cNvSpPr/>
          <p:nvPr/>
        </p:nvSpPr>
        <p:spPr>
          <a:xfrm>
            <a:off x="5120640" y="596188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97" name="Text 79"/>
          <p:cNvSpPr txBox="1"/>
          <p:nvPr/>
        </p:nvSpPr>
        <p:spPr>
          <a:xfrm>
            <a:off x="5120640" y="5961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5</a:t>
            </a:r>
            <a:endParaRPr lang="en-US" sz="900" dirty="0"/>
          </a:p>
        </p:txBody>
      </p:sp>
      <p:sp>
        <p:nvSpPr>
          <p:cNvPr id="98" name="Shape 80"/>
          <p:cNvSpPr/>
          <p:nvPr/>
        </p:nvSpPr>
        <p:spPr>
          <a:xfrm>
            <a:off x="6217920" y="5157216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99" name="Shape 81"/>
          <p:cNvSpPr/>
          <p:nvPr/>
        </p:nvSpPr>
        <p:spPr>
          <a:xfrm>
            <a:off x="6400800" y="5321808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00" name="Image 15" descr="Emblema Wiliete de Benguel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6154" y="5367162"/>
            <a:ext cx="476220" cy="476220"/>
          </a:xfrm>
          <a:prstGeom prst="rect">
            <a:avLst/>
          </a:prstGeom>
        </p:spPr>
      </p:pic>
      <p:sp>
        <p:nvSpPr>
          <p:cNvPr id="101" name="Text 82"/>
          <p:cNvSpPr txBox="1"/>
          <p:nvPr/>
        </p:nvSpPr>
        <p:spPr>
          <a:xfrm>
            <a:off x="7086600" y="52852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SC</a:t>
            </a:r>
            <a:endParaRPr lang="en-US" sz="1300" dirty="0"/>
          </a:p>
        </p:txBody>
      </p:sp>
      <p:sp>
        <p:nvSpPr>
          <p:cNvPr id="102" name="Text 83"/>
          <p:cNvSpPr txBox="1"/>
          <p:nvPr/>
        </p:nvSpPr>
        <p:spPr>
          <a:xfrm>
            <a:off x="7086600" y="56144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lugar</a:t>
            </a:r>
            <a:endParaRPr lang="en-US" sz="1000" dirty="0"/>
          </a:p>
        </p:txBody>
      </p:sp>
      <p:sp>
        <p:nvSpPr>
          <p:cNvPr id="103" name="Text 84"/>
          <p:cNvSpPr txBox="1"/>
          <p:nvPr/>
        </p:nvSpPr>
        <p:spPr>
          <a:xfrm>
            <a:off x="8577072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04" name="Shape 85"/>
          <p:cNvSpPr/>
          <p:nvPr/>
        </p:nvSpPr>
        <p:spPr>
          <a:xfrm>
            <a:off x="8942832" y="5321808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  <a:prstDash val="solid"/>
          </a:ln>
        </p:spPr>
      </p:sp>
      <p:pic>
        <p:nvPicPr>
          <p:cNvPr id="105" name="Image 16" descr="Emblema Recreativo do Libol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88186" y="5367162"/>
            <a:ext cx="476220" cy="476220"/>
          </a:xfrm>
          <a:prstGeom prst="rect">
            <a:avLst/>
          </a:prstGeom>
        </p:spPr>
      </p:pic>
      <p:sp>
        <p:nvSpPr>
          <p:cNvPr id="106" name="Text 86"/>
          <p:cNvSpPr txBox="1"/>
          <p:nvPr/>
        </p:nvSpPr>
        <p:spPr>
          <a:xfrm>
            <a:off x="9619488" y="5285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 do Libolo</a:t>
            </a:r>
            <a:endParaRPr lang="en-US" sz="1300" dirty="0"/>
          </a:p>
        </p:txBody>
      </p:sp>
      <p:sp>
        <p:nvSpPr>
          <p:cNvPr id="107" name="Text 87"/>
          <p:cNvSpPr txBox="1"/>
          <p:nvPr/>
        </p:nvSpPr>
        <p:spPr>
          <a:xfrm>
            <a:off x="9619488" y="5614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6.º lugar</a:t>
            </a:r>
            <a:endParaRPr lang="en-US" sz="1000" dirty="0"/>
          </a:p>
        </p:txBody>
      </p:sp>
      <p:sp>
        <p:nvSpPr>
          <p:cNvPr id="108" name="Text 88"/>
          <p:cNvSpPr txBox="1"/>
          <p:nvPr/>
        </p:nvSpPr>
        <p:spPr>
          <a:xfrm>
            <a:off x="6400800" y="5961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20/09 · 17:15 · Estádio Nacional de Ombaka</a:t>
            </a:r>
            <a:endParaRPr lang="en-US" sz="1000" dirty="0"/>
          </a:p>
        </p:txBody>
      </p:sp>
      <p:sp>
        <p:nvSpPr>
          <p:cNvPr id="109" name="Shape 89"/>
          <p:cNvSpPr/>
          <p:nvPr/>
        </p:nvSpPr>
        <p:spPr>
          <a:xfrm>
            <a:off x="10515600" y="596188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  <a:prstDash val="solid"/>
          </a:ln>
        </p:spPr>
      </p:sp>
      <p:sp>
        <p:nvSpPr>
          <p:cNvPr id="110" name="Text 90"/>
          <p:cNvSpPr txBox="1"/>
          <p:nvPr/>
        </p:nvSpPr>
        <p:spPr>
          <a:xfrm>
            <a:off x="10515600" y="596188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· Zsports</a:t>
            </a:r>
            <a:endParaRPr lang="en-US" sz="900" dirty="0"/>
          </a:p>
        </p:txBody>
      </p:sp>
    </p:spTree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Liga Unitel Gira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1005840"/>
            <a:ext cx="1371600" cy="15570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7889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Segue-se a 5.ª jornada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118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19/09 a domingo 20/09 · Bravos–Kabuscorp e São Salvador–Petro jogam-se já a 16 de setembro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38048" y="44805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6648" y="4590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Wiliete de Benguela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66648" y="4956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com 12 pontos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49928" y="44805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78528" y="4590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de Luanda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678528" y="4956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golos sofridos em 3 jogos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61808" y="44805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0C2639"/>
          </a:solidFill>
          <a:ln w="6350">
            <a:solidFill>
              <a:srgbClr val="1C44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90408" y="4590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do Lobito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90408" y="4956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primeiro golo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62636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Unitel Girabola 2026/2027 · análise preparada com dados dos registos oficiais de jogo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Liga Unitel Girabola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Liga Unitel Girabola 2026/27 — Análise da 4.ª Jornada</dc:title>
  <dc:subject>PptxGenJS Presentation</dc:subject>
  <dc:creator>PptxGenJS</dc:creator>
  <cp:lastModifiedBy>PptxGenJS</cp:lastModifiedBy>
  <cp:revision>1</cp:revision>
  <dcterms:created xsi:type="dcterms:W3CDTF">2026-09-15T05:35:21Z</dcterms:created>
  <dcterms:modified xsi:type="dcterms:W3CDTF">2026-09-15T05:35:21Z</dcterms:modified>
</cp:coreProperties>
</file>