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Golos Marcados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Académica Petró</c:v>
                </c:pt>
                <c:pt idx="1">
                  <c:v>São Salvador do</c:v>
                </c:pt>
                <c:pt idx="2">
                  <c:v>Kabuscorp Sport</c:v>
                </c:pt>
                <c:pt idx="3">
                  <c:v>Futebol Clube d</c:v>
                </c:pt>
                <c:pt idx="4">
                  <c:v>Clube Desportiv</c:v>
                </c:pt>
                <c:pt idx="5">
                  <c:v>Clube Desportiv</c:v>
                </c:pt>
                <c:pt idx="6">
                  <c:v>Clube Desportiv</c:v>
                </c:pt>
                <c:pt idx="7">
                  <c:v>Clube Recreativ</c:v>
                </c:pt>
                <c:pt idx="8">
                  <c:v>Estrela Clube P</c:v>
                </c:pt>
                <c:pt idx="9">
                  <c:v>Clube Recreativ</c:v>
                </c:pt>
                <c:pt idx="10">
                  <c:v>Futebol Clube d</c:v>
                </c:pt>
                <c:pt idx="11">
                  <c:v>Atlético Petról</c:v>
                </c:pt>
                <c:pt idx="12">
                  <c:v>Grupo Desportiv</c:v>
                </c:pt>
                <c:pt idx="13">
                  <c:v>Futebol Clube B</c:v>
                </c:pt>
                <c:pt idx="14">
                  <c:v>Clube Desportiv</c:v>
                </c:pt>
                <c:pt idx="15">
                  <c:v>Wiliete Sport C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4.0</c:v>
                </c:pt>
                <c:pt idx="6">
                  <c:v>5.0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5.0</c:v>
                </c:pt>
                <c:pt idx="11">
                  <c:v>6.0</c:v>
                </c:pt>
                <c:pt idx="12">
                  <c:v>6.0</c:v>
                </c:pt>
                <c:pt idx="13">
                  <c:v>7.0</c:v>
                </c:pt>
                <c:pt idx="14">
                  <c:v>9.0</c:v>
                </c:pt>
                <c:pt idx="15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Golos Sofridos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Clube Recreativ</c:v>
                </c:pt>
                <c:pt idx="1">
                  <c:v>Académica Petró</c:v>
                </c:pt>
                <c:pt idx="2">
                  <c:v>Futebol Clube d</c:v>
                </c:pt>
                <c:pt idx="3">
                  <c:v>Futebol Clube d</c:v>
                </c:pt>
                <c:pt idx="4">
                  <c:v>Clube Recreativ</c:v>
                </c:pt>
                <c:pt idx="5">
                  <c:v>Clube Desportiv</c:v>
                </c:pt>
                <c:pt idx="6">
                  <c:v>Clube Desportiv</c:v>
                </c:pt>
                <c:pt idx="7">
                  <c:v>Estrela Clube P</c:v>
                </c:pt>
                <c:pt idx="8">
                  <c:v>São Salvador do</c:v>
                </c:pt>
                <c:pt idx="9">
                  <c:v>Grupo Desportiv</c:v>
                </c:pt>
                <c:pt idx="10">
                  <c:v>Clube Desportiv</c:v>
                </c:pt>
                <c:pt idx="11">
                  <c:v>Clube Desportiv</c:v>
                </c:pt>
                <c:pt idx="12">
                  <c:v>Kabuscorp Sport</c:v>
                </c:pt>
                <c:pt idx="13">
                  <c:v>Futebol Clube B</c:v>
                </c:pt>
                <c:pt idx="14">
                  <c:v>Wiliete Sport C</c:v>
                </c:pt>
                <c:pt idx="15">
                  <c:v>Atlético Petról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  <c:pt idx="4">
                  <c:v>7.0</c:v>
                </c:pt>
                <c:pt idx="5">
                  <c:v>6.0</c:v>
                </c:pt>
                <c:pt idx="6">
                  <c:v>5.0</c:v>
                </c:pt>
                <c:pt idx="7">
                  <c:v>5.0</c:v>
                </c:pt>
                <c:pt idx="8">
                  <c:v>5.0</c:v>
                </c:pt>
                <c:pt idx="9">
                  <c:v>4.0</c:v>
                </c:pt>
                <c:pt idx="10">
                  <c:v>4.0</c:v>
                </c:pt>
                <c:pt idx="11">
                  <c:v>4.0</c:v>
                </c:pt>
                <c:pt idx="12">
                  <c:v>3.0</c:v>
                </c:pt>
                <c:pt idx="13">
                  <c:v>2.0</c:v>
                </c:pt>
                <c:pt idx="14">
                  <c:v>1.0</c:v>
                </c:pt>
                <c:pt idx="15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9.png"/><Relationship Id="rId10" Type="http://schemas.openxmlformats.org/officeDocument/2006/relationships/image" Target="../media/image11.png"/><Relationship Id="rId11" Type="http://schemas.openxmlformats.org/officeDocument/2006/relationships/image" Target="../media/image10.png"/><Relationship Id="rId12" Type="http://schemas.openxmlformats.org/officeDocument/2006/relationships/image" Target="../media/image8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Relationship Id="rId9" Type="http://schemas.openxmlformats.org/officeDocument/2006/relationships/image" Target="../media/image14.png"/><Relationship Id="rId10" Type="http://schemas.openxmlformats.org/officeDocument/2006/relationships/image" Target="../media/image16.png"/><Relationship Id="rId11" Type="http://schemas.openxmlformats.org/officeDocument/2006/relationships/image" Target="../media/image7.png"/><Relationship Id="rId12" Type="http://schemas.openxmlformats.org/officeDocument/2006/relationships/image" Target="../media/image17.png"/><Relationship Id="rId13" Type="http://schemas.openxmlformats.org/officeDocument/2006/relationships/image" Target="../media/image2.png"/><Relationship Id="rId14" Type="http://schemas.openxmlformats.org/officeDocument/2006/relationships/image" Target="../media/image9.png"/><Relationship Id="rId15" Type="http://schemas.openxmlformats.org/officeDocument/2006/relationships/image" Target="../media/image8.png"/><Relationship Id="rId16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5.jp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1.xm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2.xml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Relationship Id="rId9" Type="http://schemas.openxmlformats.org/officeDocument/2006/relationships/image" Target="../media/image6.png"/><Relationship Id="rId10" Type="http://schemas.openxmlformats.org/officeDocument/2006/relationships/image" Target="../media/image15.jpg"/><Relationship Id="rId11" Type="http://schemas.openxmlformats.org/officeDocument/2006/relationships/image" Target="../media/image17.png"/><Relationship Id="rId12" Type="http://schemas.openxmlformats.org/officeDocument/2006/relationships/image" Target="../media/image3.png"/><Relationship Id="rId13" Type="http://schemas.openxmlformats.org/officeDocument/2006/relationships/image" Target="../media/image8.png"/><Relationship Id="rId14" Type="http://schemas.openxmlformats.org/officeDocument/2006/relationships/image" Target="../media/image4.png"/><Relationship Id="rId15" Type="http://schemas.openxmlformats.org/officeDocument/2006/relationships/image" Target="../media/image13.png"/><Relationship Id="rId16" Type="http://schemas.openxmlformats.org/officeDocument/2006/relationships/image" Target="../media/image9.png"/><Relationship Id="rId17" Type="http://schemas.openxmlformats.org/officeDocument/2006/relationships/image" Target="../media/image7.png"/><Relationship Id="rId18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girabol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234440" cy="1371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2331720"/>
            <a:ext cx="109728" cy="283464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C94C"/>
                </a:solidFill>
                <a:latin typeface="Arial"/>
              </a:defRPr>
            </a:pPr>
            <a:r>
              <a:t>LIGA UNITEL GIRABOLA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Balanço Geral das 5 Primeiras Jornadas</a:t>
            </a:r>
          </a:p>
          <a:p>
            <a:pPr>
              <a:defRPr sz="1800" b="1">
                <a:solidFill>
                  <a:srgbClr val="0878C9"/>
                </a:solidFill>
                <a:latin typeface="Arial"/>
              </a:defRPr>
            </a:pPr>
            <a:r>
              <a:t>Temporada 2026/2027 · Resultados, Classificação, Rendimento e Destaques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14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3D2"/>
                </a:solidFill>
                <a:latin typeface="Arial"/>
              </a:defRPr>
            </a:pPr>
            <a:r>
              <a:t>Análise estatística profunda de todas as 5 jornadas disputadas no arranque da prova oficial da ANCAF</a:t>
            </a:r>
          </a:p>
          <a:p>
            <a:pPr>
              <a:defRPr sz="1100">
                <a:solidFill>
                  <a:srgbClr val="788CA0"/>
                </a:solidFill>
                <a:latin typeface="Arial"/>
              </a:defRPr>
            </a:pPr>
            <a:r>
              <a:t>38 jogos disputados · 82 golos marcados · Wiliete SC líder com 15 pts · Petro com baliza virgem (0 GS em 4J)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ili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660136"/>
            <a:ext cx="429768" cy="42976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402060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636" y="5660136"/>
            <a:ext cx="429768" cy="42976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072601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177" y="5660136"/>
            <a:ext cx="429768" cy="42976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743142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9718" y="5660136"/>
            <a:ext cx="429768" cy="42976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413683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ntercl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0259" y="5660136"/>
            <a:ext cx="429768" cy="429768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4084224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sphui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0800" y="5660136"/>
            <a:ext cx="429768" cy="429768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4754765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imeiromai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1341" y="5660136"/>
            <a:ext cx="429768" cy="429768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425306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1882" y="5660136"/>
            <a:ext cx="429768" cy="42976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6095847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buscor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2423" y="5660136"/>
            <a:ext cx="429768" cy="429768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766388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undasu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2964" y="5660136"/>
            <a:ext cx="429768" cy="429768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436929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aal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3505" y="5660136"/>
            <a:ext cx="429768" cy="429768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8107470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cluan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4046" y="5660136"/>
            <a:ext cx="429768" cy="429768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778011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aosalva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4587" y="5660136"/>
            <a:ext cx="429768" cy="429768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9448552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agrad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85128" y="5660136"/>
            <a:ext cx="429768" cy="429768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10119093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ind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5669" y="5660136"/>
            <a:ext cx="429768" cy="429768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10789634" y="5623560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obit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26210" y="5660136"/>
            <a:ext cx="42976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 Arranque da Temporada em Números (Jornadas 1 a 5)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38 jogos disputados em 2026/2027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878C9"/>
                </a:solidFill>
                <a:latin typeface="Arial"/>
              </a:defRPr>
            </a:pPr>
            <a:r>
              <a:t>38/40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JOGOS REALIZADOS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2 jogos em atraso devidamente agendados (Sagrada vs Kabuscorp e Sagrada vs Petro)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2C94C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GOLOS MARCADOS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Média consistente de 2,16 golos por desafio em todo o arranque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8191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8B66A"/>
                </a:solidFill>
                <a:latin typeface="Arial"/>
              </a:defRPr>
            </a:pPr>
            <a:r>
              <a:t>20·7·11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VITÓRIAS CASA · EMPATES · FORA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O fator casa foi determinante (52,6% de triunfos dos visitados)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9359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2C94C"/>
                </a:solidFill>
                <a:latin typeface="Arial"/>
              </a:defRPr>
            </a:pPr>
            <a:r>
              <a:t>5–0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MAIOR GOLEADA DA PROVA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Wiliete de Benguela frente ao Recreativo do Libolo (5.ª jornada)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2900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59359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8B66A"/>
                </a:solidFill>
                <a:latin typeface="Arial"/>
              </a:defRPr>
            </a:pPr>
            <a:r>
              <a:t>15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WILIETE: 100% VITORIOSO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Líder isolado com 5 vitórias em 5 jogos, 12 GM e apenas 1 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429000"/>
            <a:ext cx="3520440" cy="17830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593592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2FC"/>
                </a:solidFill>
                <a:latin typeface="Arial"/>
              </a:defRPr>
            </a:pPr>
            <a:r>
              <a:t>0 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976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PETRO: BALIZA VIRGEM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6177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B4C3D2"/>
                </a:solidFill>
                <a:latin typeface="Arial"/>
              </a:defRPr>
            </a:pPr>
            <a:r>
              <a:t>Petro de Luanda sem sofrer qualquer golo após 4 partidas realizadas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5955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Síntese do Arranque: As primeiras 5 jornadas consagram o início fulgurante do Wiliete SC (15 pontos em 15 possíveis), a regularidade ofensiva do 1.º de Agosto (9 golos) e a intransponibilidade defensiva do Petro de Luanda (4 partidas com baliza virgem).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EVOLUÇÃO DA COMPETIÇÃO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Panorama Comparativo: As 5 Rondas Realizadas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Análise jornada a jornada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365760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Jornada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371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Jogos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71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Golos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371600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Média/J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371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Vit. Casa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371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Empates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371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Vit. Fora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37160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Maior Vitória / Destaque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371600"/>
            <a:ext cx="1581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Líder ao Fecho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11091672" cy="4572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8288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1.ª Jornada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1828800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1,50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 (38%)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 (38%)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 (25%)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828800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Bravos do Maquis 3-0 Sagrada Esperança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828800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Bravos Maquis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59152"/>
            <a:ext cx="11091672" cy="457200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3591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2.ª Jornada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23591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8/8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3591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359152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23591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 (25%)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3591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(12%)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3591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(63%)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59152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Recorde da época (21 golos); Sagrada 3-1 São Salvador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359152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Wiliete SC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889504"/>
            <a:ext cx="11091672" cy="4572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889504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3.ª Jornada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19" y="288950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7/8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288950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889504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288950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 (43%)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88950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0 (0%)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88950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4 (57%)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889504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Petro 3-0 Libolo; D'Agosto bate Inter 2-1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889504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1.º de Agosto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419856"/>
            <a:ext cx="11091672" cy="457200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419856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4.ª Jornada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19" y="341985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8/8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341985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3419856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341985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(63%)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341985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(12%)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06440" y="341985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 (25%)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3419856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Interclube 2-0 Lobito; Wiliete 2-0 Luanda City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419856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Wiliete SC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3950208"/>
            <a:ext cx="11091672" cy="4572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3950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2C94C"/>
                </a:solidFill>
              </a:defRPr>
            </a:pPr>
            <a:r>
              <a:t>5.ª Jornada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19" y="39502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7/8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39502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3950208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2,29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39" y="39502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(71%)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39502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(14%)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39502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 (14%)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395020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38B2FC"/>
                </a:solidFill>
              </a:defRPr>
            </a:pPr>
            <a:r>
              <a:t>Wiliete 5-0 Libolo (maior goleada da prova)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3950208"/>
            <a:ext cx="1581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2C94C"/>
                </a:solidFill>
              </a:defRPr>
            </a:pPr>
            <a:r>
              <a:t>Wiliete SC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4709160"/>
            <a:ext cx="5394960" cy="15087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80060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C94C"/>
                </a:solidFill>
              </a:defRPr>
            </a:pPr>
            <a:r>
              <a:t>⚽ PICO OFENSIVO NA 2.ª JORNADA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A 2.ª jornada foi a mais espetacular até ao momento, atingindo a marca de 21 golos (média extraordinária de 2,63 por encontro).</a:t>
            </a:r>
            <a:br/>
            <a:r>
              <a:t>• Foi a única ronda em que as vitórias fora de portas superaram largamente as da casa (5 triunfos visitantes em 8 partidas).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4709160"/>
            <a:ext cx="5422392" cy="15087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480060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B66A"/>
                </a:solidFill>
              </a:defRPr>
            </a:pPr>
            <a:r>
              <a:t>🏟️ IMPOSIÇÃO DO FATOR CASA NAS RONDAS 4 E 5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Nas 4.ª e 5.ª jornadas, os anfitriões venceram 10 dos 15 jogos disputados (67% de eficácia caseira).</a:t>
            </a:r>
            <a:br/>
            <a:r>
              <a:t>• Estádios França Ndalu, Ombaka e Mundunduleno consolidaram-se como terrenos intransponíveis para os visitantes.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BENCHMARK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Comparativo com o Ano Passado (2025/2026)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Termo de referência oficial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MÉDIA DE GOLOS POR JOGO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2C94C"/>
                </a:solidFill>
              </a:defRPr>
            </a:pPr>
            <a:r>
              <a:t>2,16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59" y="1828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2,15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+0,5% em 2026/27 — O arranque da época atual apresenta ligeira subida na eficácia goleadora face aos 515 golos totais do ano passado.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PERCENTAGEM VITÓRIAS CASA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28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2FC"/>
                </a:solidFill>
              </a:defRPr>
            </a:pPr>
            <a:r>
              <a:t>52,6%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1828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45,4%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+7,2% em 2026/27 — O fator casa ganhou ainda mais preponderância: 20 vitórias caseiras em 38 jogos este ano vs 109 em 240 em 2025/26.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APROVEITAMENTO DO LÍDER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B66A"/>
                </a:solidFill>
              </a:defRPr>
            </a:pPr>
            <a:r>
              <a:t>100%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79" y="1828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73,3%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Wiliete 15p em 15p — Em 2025/26 o Petro liderou com 72 pts em 240 jogos. Este ano, o Wiliete apresenta o melhor arranque registado.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13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GOLOS SOFRIDOS / JOGO (PETRO)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878C9"/>
                </a:solidFill>
              </a:defRPr>
            </a:pPr>
            <a:r>
              <a:t>0,00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59" y="4114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0,62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Baliza 100% virgem — O Petro de Luanda sofreu 15 golos em 24 jogos em 25/26 (0,62/j). Na época atual soma 4 jogos sem consentir qualquer golo.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703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813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RITMO DO MELHOR ARTILHEIRO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14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2C94C"/>
                </a:solidFill>
              </a:defRPr>
            </a:pPr>
            <a:r>
              <a:t>1,00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4114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0,70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Dagó: 5 golos em 5J — Em 25/26 os artilheiros Kaporal e Dagó fecharam com 21 golos em 30J (0,70/j). Dagó lidera agora com 1 golo/jogo.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520440" cy="20574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813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GOLOS DO MELHOR ATAQUE / JOGO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2,40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2026/27 (5 Jornadas)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79" y="41148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8CA0"/>
                </a:solidFill>
              </a:defRPr>
            </a:pPr>
            <a:r>
              <a:t>2,63</a:t>
            </a:r>
          </a:p>
          <a:p>
            <a:pPr>
              <a:defRPr sz="850">
                <a:solidFill>
                  <a:srgbClr val="788CA0"/>
                </a:solidFill>
              </a:defRPr>
            </a:pPr>
            <a:r>
              <a:t>2025/26 (Ano Passado)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3D2"/>
                </a:solidFill>
              </a:defRPr>
            </a:pPr>
            <a:r>
              <a:t>• Wiliete: 12 em 5J — O melhor ataque pertence ao Wiliete (2,40/j), aproximando-se do ritmo histórico do Petro campeão do ano transato.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CLASSIFICAÇÃO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Tabela Oficial da Liga Unitel Girabola após as 5 Primeiras Jornadas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Petro e Kabuscorp: 4 J · Sagrada: 3 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801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F2C94C"/>
                </a:solidFill>
                <a:latin typeface="Arial"/>
              </a:defRPr>
            </a:pPr>
            <a:r>
              <a:t>Equipa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256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4184" y="128016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28016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28016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2801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DG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128016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12801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  <a:latin typeface="Arial"/>
              </a:defRPr>
            </a:pPr>
            <a:r>
              <a:t>Forma (últimos jogos)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554480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55448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1581912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ili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618488"/>
            <a:ext cx="137160" cy="137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0160" y="155448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Wiliete Sport Clube de Benguela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4184" y="155448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155448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55448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155448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155448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90888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0072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49256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78440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07624" y="159105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1847088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847088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9" name="Oval 38"/>
          <p:cNvSpPr/>
          <p:nvPr/>
        </p:nvSpPr>
        <p:spPr>
          <a:xfrm>
            <a:off x="960120" y="1874519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911095"/>
            <a:ext cx="137160" cy="137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80160" y="1847088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Clube Desportivo 1.º de Agosto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0328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7256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44184" y="184708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184708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184708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1847088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1847088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90888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20072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49256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78440" y="188366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07624" y="188366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2139696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2139696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7" name="Oval 56"/>
          <p:cNvSpPr/>
          <p:nvPr/>
        </p:nvSpPr>
        <p:spPr>
          <a:xfrm>
            <a:off x="960120" y="2167127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2203703"/>
            <a:ext cx="137160" cy="1371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80160" y="2139696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Futebol Clube Bravos do Maquis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3400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0328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7256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44184" y="213969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11112" y="213969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213969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7848" y="2139696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3648" y="2139696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90888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20072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49256" y="217627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78440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07624" y="217627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2432304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2432304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5" name="Oval 74"/>
          <p:cNvSpPr/>
          <p:nvPr/>
        </p:nvSpPr>
        <p:spPr>
          <a:xfrm>
            <a:off x="960120" y="2459736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2496312"/>
            <a:ext cx="137160" cy="13716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280160" y="2432304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Atlético Petróleos de Luanda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3400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10328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77256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44184" y="243230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1112" y="243230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9480" y="243230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27848" y="2432304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13648" y="2432304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10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390888" y="246888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720072" y="246888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049256" y="246888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378440" y="246888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2724912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2724912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2" name="Oval 91"/>
          <p:cNvSpPr/>
          <p:nvPr/>
        </p:nvSpPr>
        <p:spPr>
          <a:xfrm>
            <a:off x="960120" y="2752344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ntercl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2788920"/>
            <a:ext cx="137160" cy="1371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280160" y="2724912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Grupo Desportivo Interclube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43400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10328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77256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44184" y="272491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1112" y="272491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272491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27848" y="2724912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13648" y="2724912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9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90888" y="276148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720072" y="276148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49256" y="276148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378440" y="276148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707624" y="276148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48640" y="3017520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8640" y="301752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10" name="Oval 109"/>
          <p:cNvSpPr/>
          <p:nvPr/>
        </p:nvSpPr>
        <p:spPr>
          <a:xfrm>
            <a:off x="960120" y="3044951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desphui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" y="3081527"/>
            <a:ext cx="137160" cy="13716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280160" y="301752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Desportivo da Huíla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43400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10328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77256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44184" y="301752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11112" y="301752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69480" y="301752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27848" y="301752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+1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13648" y="301752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90888" y="305409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720072" y="305409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049256" y="305409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378440" y="305409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707624" y="305409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48640" y="3310128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8640" y="3310128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28" name="Oval 127"/>
          <p:cNvSpPr/>
          <p:nvPr/>
        </p:nvSpPr>
        <p:spPr>
          <a:xfrm>
            <a:off x="960120" y="3337560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libol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" y="3374136"/>
            <a:ext cx="137160" cy="137160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280160" y="3310128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Recreativo e Desportivo do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43400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910328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77256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44184" y="331012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11112" y="331012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269480" y="331012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27848" y="3310128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13648" y="3310128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6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90888" y="334670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720072" y="334670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049256" y="334670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378440" y="334670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707624" y="334670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48640" y="3602736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48640" y="3602736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6" name="Oval 145"/>
          <p:cNvSpPr/>
          <p:nvPr/>
        </p:nvSpPr>
        <p:spPr>
          <a:xfrm>
            <a:off x="960120" y="3630168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lundasu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696" y="3666744"/>
            <a:ext cx="137160" cy="13716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280160" y="3602736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Desportivo da Lunda-Sul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43400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10328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77256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044184" y="360273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11112" y="360273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269480" y="360273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27848" y="3602736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13648" y="3602736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5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390888" y="363931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720072" y="363931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049256" y="363931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378440" y="363931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" y="3895344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8640" y="3895344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63" name="Oval 162"/>
          <p:cNvSpPr/>
          <p:nvPr/>
        </p:nvSpPr>
        <p:spPr>
          <a:xfrm>
            <a:off x="960120" y="3922776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kabuscor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696" y="3959352"/>
            <a:ext cx="137160" cy="13716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280160" y="3895344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Kabuscorp Sport Clube do Palanca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43400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10328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77256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044184" y="389534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11112" y="389534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69480" y="389534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927848" y="3895344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613648" y="3895344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5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390888" y="393192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720072" y="393192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0049256" y="393192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378440" y="393192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48640" y="4187952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48640" y="4187952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80" name="Oval 179"/>
          <p:cNvSpPr/>
          <p:nvPr/>
        </p:nvSpPr>
        <p:spPr>
          <a:xfrm>
            <a:off x="960120" y="4215384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1" name="Picture 180" descr="primeiroma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696" y="4251960"/>
            <a:ext cx="137160" cy="137160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1280160" y="4187952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Estrela Clube Primeiro de Maio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43400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910328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77256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44184" y="418795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611112" y="418795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269480" y="418795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927848" y="4187952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613648" y="4187952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9390888" y="422452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720072" y="422452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0049256" y="4224528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378440" y="422452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48640" y="4480560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48640" y="448056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97" name="Oval 196"/>
          <p:cNvSpPr/>
          <p:nvPr/>
        </p:nvSpPr>
        <p:spPr>
          <a:xfrm>
            <a:off x="960120" y="4507992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caal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696" y="4544568"/>
            <a:ext cx="137160" cy="137160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1280160" y="448056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Recreativo da Caála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343400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910328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477256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044184" y="448056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11112" y="448056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269480" y="448056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7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927848" y="448056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613648" y="448056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390888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9720072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049256" y="4517136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378440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0707624" y="451713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48640" y="4773168"/>
            <a:ext cx="10853928" cy="265176"/>
          </a:xfrm>
          <a:prstGeom prst="roundRect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8640" y="4773168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15" name="Oval 214"/>
          <p:cNvSpPr/>
          <p:nvPr/>
        </p:nvSpPr>
        <p:spPr>
          <a:xfrm>
            <a:off x="960120" y="4800600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" name="Picture 215" descr="fcluan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696" y="4837176"/>
            <a:ext cx="137160" cy="137160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1280160" y="4773168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Futebol Clube de Luanda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343400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910328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477256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044184" y="4773168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611112" y="477316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269480" y="4773168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8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927848" y="4773168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613648" y="4773168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9390888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9720072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0049256" y="4809744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0378440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0707624" y="4809744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48640" y="5065776"/>
            <a:ext cx="10853928" cy="265176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48640" y="5065776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33" name="Oval 232"/>
          <p:cNvSpPr/>
          <p:nvPr/>
        </p:nvSpPr>
        <p:spPr>
          <a:xfrm>
            <a:off x="960120" y="5093208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4" name="Picture 233" descr="saosalva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696" y="5129784"/>
            <a:ext cx="137160" cy="13716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1280160" y="5065776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São Salvador do Kongo Futebol Cl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343400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910328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477256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044184" y="5065776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611112" y="506577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269480" y="5065776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927848" y="5065776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-3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613648" y="5065776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4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9390888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9720072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049256" y="5102352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0378440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0707624" y="5102352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548640" y="5358384"/>
            <a:ext cx="10853928" cy="265176"/>
          </a:xfrm>
          <a:prstGeom prst="roundRect">
            <a:avLst/>
          </a:prstGeom>
          <a:solidFill>
            <a:srgbClr val="1E141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548640" y="5358384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251" name="Oval 250"/>
          <p:cNvSpPr/>
          <p:nvPr/>
        </p:nvSpPr>
        <p:spPr>
          <a:xfrm>
            <a:off x="960120" y="5385816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2" name="Picture 251" descr="sagrad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6696" y="5422392"/>
            <a:ext cx="137160" cy="137160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1280160" y="5358384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Clube Desportivo Sagrada Esperan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343400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910328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1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477256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044184" y="5358384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611112" y="535838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4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269480" y="5358384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927848" y="5358384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-2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613648" y="5358384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3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9390888" y="539496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9720072" y="5394960"/>
            <a:ext cx="237744" cy="192024"/>
          </a:xfrm>
          <a:prstGeom prst="roundRect">
            <a:avLst/>
          </a:prstGeom>
          <a:solidFill>
            <a:srgbClr val="18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10049256" y="5394960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548640" y="5650992"/>
            <a:ext cx="10853928" cy="265176"/>
          </a:xfrm>
          <a:prstGeom prst="roundRect">
            <a:avLst/>
          </a:prstGeom>
          <a:solidFill>
            <a:srgbClr val="1E141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548640" y="5650992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67" name="Oval 266"/>
          <p:cNvSpPr/>
          <p:nvPr/>
        </p:nvSpPr>
        <p:spPr>
          <a:xfrm>
            <a:off x="960120" y="5678424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8" name="Picture 267" descr="cabind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6696" y="5715000"/>
            <a:ext cx="137160" cy="137160"/>
          </a:xfrm>
          <a:prstGeom prst="rect">
            <a:avLst/>
          </a:prstGeom>
        </p:spPr>
      </p:pic>
      <p:sp>
        <p:nvSpPr>
          <p:cNvPr id="269" name="TextBox 268"/>
          <p:cNvSpPr txBox="1"/>
          <p:nvPr/>
        </p:nvSpPr>
        <p:spPr>
          <a:xfrm>
            <a:off x="1280160" y="5650992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Futebol Clube de Cabinda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343400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910328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477256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2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044184" y="5650992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611112" y="565099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3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269480" y="5650992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8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927848" y="5650992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-5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613648" y="5650992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2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9390888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9720072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10049256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10378440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10707624" y="5687568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548640" y="5943600"/>
            <a:ext cx="10853928" cy="265176"/>
          </a:xfrm>
          <a:prstGeom prst="roundRect">
            <a:avLst/>
          </a:prstGeom>
          <a:solidFill>
            <a:srgbClr val="1E141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548640" y="5943600"/>
            <a:ext cx="4114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285" name="Oval 284"/>
          <p:cNvSpPr/>
          <p:nvPr/>
        </p:nvSpPr>
        <p:spPr>
          <a:xfrm>
            <a:off x="960120" y="5971032"/>
            <a:ext cx="210312" cy="210312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6" name="Picture 285" descr="lobit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696" y="6007608"/>
            <a:ext cx="137160" cy="137160"/>
          </a:xfrm>
          <a:prstGeom prst="rect">
            <a:avLst/>
          </a:prstGeom>
        </p:spPr>
      </p:pic>
      <p:sp>
        <p:nvSpPr>
          <p:cNvPr id="287" name="TextBox 286"/>
          <p:cNvSpPr txBox="1"/>
          <p:nvPr/>
        </p:nvSpPr>
        <p:spPr>
          <a:xfrm>
            <a:off x="1280160" y="5943600"/>
            <a:ext cx="3063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FFFFFF"/>
                </a:solidFill>
              </a:defRPr>
            </a:pPr>
            <a:r>
              <a:t>Académica Petróleos Clube do Lob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343400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910328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477256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044184" y="5943600"/>
            <a:ext cx="5669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5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11112" y="594360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0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269480" y="5943600"/>
            <a:ext cx="65836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9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927848" y="5943600"/>
            <a:ext cx="6858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B4C3D2"/>
                </a:solidFill>
              </a:defRPr>
            </a:pPr>
            <a:r>
              <a:t>-9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613648" y="5943600"/>
            <a:ext cx="7772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C94C"/>
                </a:solidFill>
              </a:defRPr>
            </a:pPr>
            <a:r>
              <a:t>0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9390888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9720072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10049256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10378440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10707624" y="5980176"/>
            <a:ext cx="237744" cy="192024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JORNADAS 1 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 Pontapé de Saída: Defesas Fechadas e Explosão Goleadora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33 golos em 16 jogos disputados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JORNADA 1: EQUILÍBRIO E DEFESAS EM DESTAQUE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12 golos em 8 jogos (média de 1,50 por partida).</a:t>
            </a:r>
            <a:br/>
            <a:r>
              <a:t>• O clássico inaugural terminou sem golos: Desportivo da Lunda Sul 0-0 Petro de Luanda.</a:t>
            </a:r>
            <a:br/>
            <a:r>
              <a:t>• Bravos do Maquis com entrada de rompante: bateu o Sagrada Esperança por expressivos 3-0.</a:t>
            </a:r>
            <a:br/>
            <a:r>
              <a:t>• Triunfos importantes de Wiliete (2-0 Lobito), 1.º de Agosto (1-0 Huíla) e Libolo (3-0 em Cabinda).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2FC"/>
                </a:solidFill>
              </a:defRPr>
            </a:pPr>
            <a:r>
              <a:t>JORNADA 2: A RONDA MAIS GOLEADORA DO ANO (21 GOLOS)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Recorde ofensivo da prova com 21 golos marcados em 8 jogos (média de 2,63/jogo).</a:t>
            </a:r>
            <a:br/>
            <a:r>
              <a:t>• Vitória emocionante do Wiliete na Caála (2-1), assumindo desde logo a dianteira do campeonato.</a:t>
            </a:r>
            <a:br/>
            <a:r>
              <a:t>• Petro de Luanda arrancou a primeira vitória ao bater a Académica do Lobito fora (2-0).</a:t>
            </a:r>
            <a:br/>
            <a:r>
              <a:t>• 1.º de Agosto venceu em Benguela frente ao 1.º de Maio (2-1); Sagrada venceu São Salvador (3-1).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JORNADAS 3 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Afirmação dos Líderes e Intensidade Tática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33 golos marcados em 15 jogos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B66A"/>
                </a:solidFill>
              </a:defRPr>
            </a:pPr>
            <a:r>
              <a:t>JORNADA 3: O CLÁSSICO DE LUANDA E A LIDERANÇA DO D'AGOSTO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16 golos em 7 jogos disputados (Sagrada vs Kabuscorp adiado para 23/09).</a:t>
            </a:r>
            <a:br/>
            <a:r>
              <a:t>• Grande vitória do 1.º de Agosto sobre o GD Interclube por 2-1 no Estádio França Ndalu.</a:t>
            </a:r>
            <a:br/>
            <a:r>
              <a:t>• Petro de Luanda categórico: 3-0 ao Recreativo do Libolo com Tiago Azulão a faturar.</a:t>
            </a:r>
            <a:br/>
            <a:r>
              <a:t>• Wiliete somou precioso triunfo fora ao bater o Desportivo da Huíla por 1-0 na Tundavala.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475488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JORNADA 4: O IMPÉRIO CASEIRO E VITÓRIAS NO LIMITE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2"/>
                </a:solidFill>
              </a:defRPr>
            </a:pPr>
            <a:r>
              <a:t>• 17 golos marcados e 5 vitórias das equipas da casa em 8 jogos.</a:t>
            </a:r>
            <a:br/>
            <a:r>
              <a:t>• Petro de Luanda arrancou vitória dramática sobre o São Salvador (1-0 com golo aos 90').</a:t>
            </a:r>
            <a:br/>
            <a:r>
              <a:t>• Wiliete de Benguela venceu o FC Luanda por 2-0 em Ombaka e manteve o pleno de pontos.</a:t>
            </a:r>
            <a:br/>
            <a:r>
              <a:t>• Interclube venceu Lobito (2-0) e Desportivo da Lunda Sul bateu o Sagrada Esperança (2-1).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5.ª JORNADA RECENTE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Resultados e Marcadores Oficiais da 5.ª Jornada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16 golos · maior goleada da época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Sábado 19/09 · França N'dalu · Int. 0-1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00784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1.º de Agosto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6276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3 –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FC Luanda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clua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1700784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201168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1.º de Agosto: Dagó Tshibamba 52', 89' (pen), Ronaldo 59' (ag) | FC Luanda: Gelson Cabeto 35' (pen), Motivado 90+5'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Canhala · Int. 0-2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a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935224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CR Caála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86207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Bravos do Maquis</a:t>
            </a:r>
          </a:p>
        </p:txBody>
      </p:sp>
      <p:sp>
        <p:nvSpPr>
          <p:cNvPr id="25" name="Oval 24"/>
          <p:cNvSpPr/>
          <p:nvPr/>
        </p:nvSpPr>
        <p:spPr>
          <a:xfrm>
            <a:off x="557784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rav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416" y="2935224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324612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CR Caála: Valegol 83' | Bravos do Maquis: Lito 14', Ju Cabral 29'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França Ndalu · Int. 0-0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kabuscor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169664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0584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Kabuscorp SC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09651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GD Interclube</a:t>
            </a:r>
          </a:p>
        </p:txBody>
      </p:sp>
      <p:sp>
        <p:nvSpPr>
          <p:cNvPr id="35" name="Oval 34"/>
          <p:cNvSpPr/>
          <p:nvPr/>
        </p:nvSpPr>
        <p:spPr>
          <a:xfrm>
            <a:off x="557784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nterclu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4416" y="4169664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5800" y="448056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Kabuscorp SC: Joaquim Paciência 90+11'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2978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Álvaro Buta · Int. 0-0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36752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aosalvad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" y="5404104"/>
            <a:ext cx="201168" cy="2011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05840" y="53675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São Salvador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330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0 –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53675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FC Cabinda</a:t>
            </a:r>
          </a:p>
        </p:txBody>
      </p:sp>
      <p:sp>
        <p:nvSpPr>
          <p:cNvPr id="45" name="Oval 44"/>
          <p:cNvSpPr/>
          <p:nvPr/>
        </p:nvSpPr>
        <p:spPr>
          <a:xfrm>
            <a:off x="5577840" y="536752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abin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416" y="5404104"/>
            <a:ext cx="201168" cy="2011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" y="571500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São Salvador: sem golos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Tundavala · Int. 0-0</a:t>
            </a:r>
          </a:p>
        </p:txBody>
      </p:sp>
      <p:sp>
        <p:nvSpPr>
          <p:cNvPr id="50" name="Oval 49"/>
          <p:cNvSpPr/>
          <p:nvPr/>
        </p:nvSpPr>
        <p:spPr>
          <a:xfrm>
            <a:off x="635508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desphuil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1700784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7512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Desp. da Huíla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16276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166420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Académica Lobito</a:t>
            </a:r>
          </a:p>
        </p:txBody>
      </p:sp>
      <p:sp>
        <p:nvSpPr>
          <p:cNvPr id="55" name="Oval 54"/>
          <p:cNvSpPr/>
          <p:nvPr/>
        </p:nvSpPr>
        <p:spPr>
          <a:xfrm>
            <a:off x="11247120" y="166420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lobit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83696" y="1700784"/>
            <a:ext cx="201168" cy="201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355080" y="201168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Desp. da Huíla: João Samazanga 90'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20/09 · Ombaka · Int. 1-0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wilie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2935224"/>
            <a:ext cx="201168" cy="20116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7512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Wiliete SC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286207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5 – 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289864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Rec. do Libolo</a:t>
            </a:r>
          </a:p>
        </p:txBody>
      </p:sp>
      <p:sp>
        <p:nvSpPr>
          <p:cNvPr id="65" name="Oval 64"/>
          <p:cNvSpPr/>
          <p:nvPr/>
        </p:nvSpPr>
        <p:spPr>
          <a:xfrm>
            <a:off x="11247120" y="289864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ibol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83696" y="2935224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355080" y="324612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Wiliete SC: Bocar Sidibé 1', Mabululu 49', 63', Rodino 82', Valter 87'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Segunda 21/09 · Benguela · Int. 0-0</a:t>
            </a:r>
          </a:p>
        </p:txBody>
      </p:sp>
      <p:sp>
        <p:nvSpPr>
          <p:cNvPr id="70" name="Oval 69"/>
          <p:cNvSpPr/>
          <p:nvPr/>
        </p:nvSpPr>
        <p:spPr>
          <a:xfrm>
            <a:off x="635508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rimeiromai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656" y="4169664"/>
            <a:ext cx="201168" cy="20116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67512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Estrela 1.º Maio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0" y="409651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C94C"/>
                </a:solidFill>
              </a:defRPr>
            </a:pPr>
            <a:r>
              <a:t>1 – 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41330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Desp. Lunda Sul</a:t>
            </a:r>
          </a:p>
        </p:txBody>
      </p:sp>
      <p:sp>
        <p:nvSpPr>
          <p:cNvPr id="75" name="Oval 74"/>
          <p:cNvSpPr/>
          <p:nvPr/>
        </p:nvSpPr>
        <p:spPr>
          <a:xfrm>
            <a:off x="11247120" y="4133088"/>
            <a:ext cx="274320" cy="2743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lundasu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83696" y="4169664"/>
            <a:ext cx="201168" cy="2011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355080" y="448056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B4C3D2"/>
                </a:solidFill>
              </a:defRPr>
            </a:pPr>
            <a:r>
              <a:t>Estrela 1.º Maio: Cláudio 55'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JOGOS EM ATRASO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Jogos Pendentes &amp; Impacto na Tabela Classificativa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2 jogos em atraso no ciclo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118872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2C94C"/>
                </a:solidFill>
              </a:defRPr>
            </a:pPr>
            <a:r>
              <a:t>3.ª JORNADA · EM ATRASO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ag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819656"/>
            <a:ext cx="33832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1783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Sagrada Esperança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83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Kabuscorp SC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17830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kabusco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1819656"/>
            <a:ext cx="338328" cy="338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22402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C3D2"/>
                </a:solidFill>
              </a:defRPr>
            </a:pPr>
            <a:r>
              <a:t>Quarta 23/09 · 15:00 · Estádio Sagrada Esperança · Rádio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11091672" cy="118872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529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2C94C"/>
                </a:solidFill>
              </a:defRPr>
            </a:pPr>
            <a:r>
              <a:t>5.ª JORNADA · ADIADO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ag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191256"/>
            <a:ext cx="338328" cy="338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Sagrada Esperança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15468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54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Petro de Luanda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3191256"/>
            <a:ext cx="338328" cy="3383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6118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C3D2"/>
                </a:solidFill>
              </a:defRPr>
            </a:pPr>
            <a:r>
              <a:t>Quarta 04/11 · 15:30 · Estádio Sagrada Esperança · Rádio 5 / Zsports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97680"/>
            <a:ext cx="11091672" cy="19659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B66A"/>
                </a:solidFill>
              </a:defRPr>
            </a:pPr>
            <a:r>
              <a:t>📊 IMPACTO DIRETO NA CLASSIFICAÇÃO GERAL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Sagrada Esperança (14.º lugar, 3 pts, 3 J): É a única equipa com dois desafios em falta. Se vencer ambos os jogos adiados, pode somar 6 pontos adicionais e escalar diretamente para o 5.º lugar com 9 pontos.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Petro de Luanda (4.º lugar, 10 pts, 4 J): Com uma vitória no confronto adiado frente ao Sagrada a 4 de novembro, ascende aos 13 pontos e emparelha com o CD 1.º de Agosto na 2.ª posição, mantendo a pressão máxima sobre o líder Wiliete.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Kabuscorp SC (9.º lugar, 5 pts, 4 J): O embate da 3.ª jornada no Dundo pode conduzir os palanquinos aos 8 pontos, entrando diretamente na disputa da primeira metade da tabela.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ATAQUE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Produtividade Ofensiva por Equipa (5 Jornadas)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82 golos em 38 jogos · média de 2,16/j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2C94C"/>
                </a:solidFill>
              </a:defRPr>
            </a:pPr>
            <a:r>
              <a:t>LEITURA OFENSIVA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1051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197510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011680"/>
            <a:ext cx="429768" cy="429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19019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3134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MELHOR ATAQUE: WILIETE SC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2,40 golos por partida (12 golos em 5 jogos)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23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316382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3200400"/>
            <a:ext cx="429768" cy="429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15400" y="309067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1,50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502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MÉDIA DO PETRO DE LUANDA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6 golos marcados em apenas 4 partidas realizadas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8795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435254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389120"/>
            <a:ext cx="429768" cy="4297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15400" y="427939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6908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DAGÓ TSHIBAMBA LIDERA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5 golos em 5 partidas (1,00 golo/jogo)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537667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554126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bi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5577840"/>
            <a:ext cx="429768" cy="429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15400" y="546811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C94C"/>
                </a:solidFill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8795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ATAQUE EM BRANCO: ACADÉMICA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Sem qualquer golo apontado em 5 desafios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Consistência Defensiva: Golos Sofridos por Equipa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Só Petro e Wiliete sofreram menos de 2 golos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B66A"/>
                </a:solidFill>
              </a:defRPr>
            </a:pPr>
            <a:r>
              <a:t>LEITURA DEFENSIVA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1051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197510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011680"/>
            <a:ext cx="429768" cy="429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19019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3134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BALIZA VIRGEM: PETRO DE LUANDA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4 jogos sem consentir qualquer golo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23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316382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li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3200400"/>
            <a:ext cx="429768" cy="429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15400" y="309067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502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SOLIDEZ: WILIETE SC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Apenas 1 golo sofrido em 5 jogos disputados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8795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435254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rav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389120"/>
            <a:ext cx="429768" cy="4297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15400" y="427939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6908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BRAVOS DO MAQUIS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0,40 golos sofridos por partida realizada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5376672"/>
            <a:ext cx="3547872" cy="10515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5541264"/>
            <a:ext cx="502920" cy="502920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ibo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5577840"/>
            <a:ext cx="429768" cy="429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15400" y="546811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B66A"/>
                </a:solidFill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8795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DEFESA MAIS BATIDA: REC. LIBOLO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2,00 golos sofridos por partida (10 no total)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DISCIPLINA &amp; FAIR-PLAY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Cartões Amarelos e Vermelhos nas 5 Jornadas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Registos consolidados ANCAF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C94C"/>
                </a:solidFill>
              </a:defRPr>
            </a:pPr>
            <a:r>
              <a:t>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CARTÕES AMARELOS MOSTRADOS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Média de 2,47 cartões amarelos por partida nas 5 jornadas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81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3946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EXPULSÕES REGISTADAS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Cartões vermelhos diretos ou por acumulação em todo o ciclo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878C9"/>
                </a:solidFill>
              </a:defRPr>
            </a:pPr>
            <a:r>
              <a:t>1.º de Agosto vs FC Luanda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JOGO COM MAIOR INTENSIDADE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2 cartões amarelos e diversas faltas assinaladas nos minutos finais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440680" cy="123444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52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B66A"/>
                </a:solidFill>
              </a:defRPr>
            </a:pPr>
            <a:r>
              <a:t>Petro &amp; Wiliete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EQUIPAS COM MENOS ADVERTÊNCIAS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Menor número de faltas cometidas e índice de disciplina exemplar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97680"/>
            <a:ext cx="11091672" cy="196596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📋 QUADRO DE DISCIPLINA DA 5.ª JORNADA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1.º de Agosto 3-2 FC Luanda: 2 cartões amarelos registados na súmula oficial.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Estrela 1.º de Maio 1-0 Desportivo da Lunda Sul: 1 cartão vermelho exibido ao Desportivo da Lunda Sul aos 30 minutos de jogo.</a:t>
            </a:r>
          </a:p>
          <a:p>
            <a:pPr>
              <a:defRPr sz="1000">
                <a:solidFill>
                  <a:srgbClr val="B4C3D2"/>
                </a:solidFill>
              </a:defRPr>
            </a:pPr>
            <a:r>
              <a:t>• Cinco dos sete jogos disputados aguardam a consolidação final da súmula eletrónica via sistema FCMS da ANCAF.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MELHORES MARCADORES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Tabela da Artilharia após as 5 Primeiras Jornadas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Temporada 2026/2027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1.º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146304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49961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Dagó Tshibamba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CD 1.º de Agosto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4447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5 golos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4825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396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2.º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213969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2176272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45920" y="212140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Mabululu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Wiliete de Benguela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214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4 golos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24912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163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3.º</a:t>
            </a:r>
          </a:p>
        </p:txBody>
      </p:sp>
      <p:sp>
        <p:nvSpPr>
          <p:cNvPr id="22" name="Oval 21"/>
          <p:cNvSpPr/>
          <p:nvPr/>
        </p:nvSpPr>
        <p:spPr>
          <a:xfrm>
            <a:off x="1143000" y="2816352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2852928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45920" y="27980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Lito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Bravos do Maquis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79806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3 golos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01568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49300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" y="3493008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529584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45920" y="34747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Axel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CD 1.º de Agosto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474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78224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16966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34" name="Oval 33"/>
          <p:cNvSpPr/>
          <p:nvPr/>
        </p:nvSpPr>
        <p:spPr>
          <a:xfrm>
            <a:off x="1143000" y="4169664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aa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4206240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45920" y="41513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Benvindo Afonso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CR Caála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15137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5488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8463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40" name="Oval 39"/>
          <p:cNvSpPr/>
          <p:nvPr/>
        </p:nvSpPr>
        <p:spPr>
          <a:xfrm>
            <a:off x="1143000" y="484632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cluan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76" y="4882896"/>
            <a:ext cx="329184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45920" y="48280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Jaime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FC Luanda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82803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43153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52297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46" name="Oval 45"/>
          <p:cNvSpPr/>
          <p:nvPr/>
        </p:nvSpPr>
        <p:spPr>
          <a:xfrm>
            <a:off x="1143000" y="552297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5559552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45920" y="550468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Ju Cabral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Bravos do Maquis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550468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37160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146304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52" name="Oval 51"/>
          <p:cNvSpPr/>
          <p:nvPr/>
        </p:nvSpPr>
        <p:spPr>
          <a:xfrm>
            <a:off x="6812280" y="146304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abin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1499616"/>
            <a:ext cx="329184" cy="32918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31520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Luyeye Tomás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FC Cabinda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14447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204825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21396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58" name="Oval 57"/>
          <p:cNvSpPr/>
          <p:nvPr/>
        </p:nvSpPr>
        <p:spPr>
          <a:xfrm>
            <a:off x="6812280" y="213969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esphuil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856" y="2176272"/>
            <a:ext cx="329184" cy="32918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315200" y="212140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Milagre Carlos Simba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Desportivo da Huíla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21214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2724912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28163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64" name="Oval 63"/>
          <p:cNvSpPr/>
          <p:nvPr/>
        </p:nvSpPr>
        <p:spPr>
          <a:xfrm>
            <a:off x="6812280" y="2816352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852928"/>
            <a:ext cx="329184" cy="32918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315200" y="27980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Ning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Wiliete de Benguela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279806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401568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7648" y="349300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70" name="Oval 69"/>
          <p:cNvSpPr/>
          <p:nvPr/>
        </p:nvSpPr>
        <p:spPr>
          <a:xfrm>
            <a:off x="6812280" y="3493008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856" y="3529584"/>
            <a:ext cx="329184" cy="32918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315200" y="34747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Pedro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Recreativo do Libolo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3474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4078224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7648" y="416966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76" name="Oval 75"/>
          <p:cNvSpPr/>
          <p:nvPr/>
        </p:nvSpPr>
        <p:spPr>
          <a:xfrm>
            <a:off x="6812280" y="4169664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pet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8856" y="4206240"/>
            <a:ext cx="329184" cy="32918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315200" y="41513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Tiago Azulão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Petro de Luanda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5137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4754880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48463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82" name="Oval 81"/>
          <p:cNvSpPr/>
          <p:nvPr/>
        </p:nvSpPr>
        <p:spPr>
          <a:xfrm>
            <a:off x="6812280" y="4846320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caa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4882896"/>
            <a:ext cx="329184" cy="32918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315200" y="48280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Valegol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CR Caála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07040" y="482803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5431536"/>
            <a:ext cx="5440680" cy="603504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552297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4.º</a:t>
            </a:r>
          </a:p>
        </p:txBody>
      </p:sp>
      <p:sp>
        <p:nvSpPr>
          <p:cNvPr id="88" name="Oval 87"/>
          <p:cNvSpPr/>
          <p:nvPr/>
        </p:nvSpPr>
        <p:spPr>
          <a:xfrm>
            <a:off x="6812280" y="5522976"/>
            <a:ext cx="402336" cy="402336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5559552"/>
            <a:ext cx="329184" cy="32918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315200" y="550468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Walter Monteiro</a:t>
            </a:r>
          </a:p>
          <a:p>
            <a:pPr>
              <a:defRPr sz="850">
                <a:solidFill>
                  <a:srgbClr val="B4C3D2"/>
                </a:solidFill>
              </a:defRPr>
            </a:pPr>
            <a:r>
              <a:t>Wiliete de Benguela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07040" y="550468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2C94C"/>
                </a:solidFill>
              </a:defRPr>
            </a:pPr>
            <a:r>
              <a:t>2 golos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ANTEVISÃO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Próximos Confrontos: Calendário Oficial da 6.ª Jornada</a:t>
            </a:r>
          </a:p>
        </p:txBody>
      </p:sp>
      <p:pic>
        <p:nvPicPr>
          <p:cNvPr id="5" name="Picture 4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88CA0"/>
                </a:solidFill>
                <a:latin typeface="Arial"/>
              </a:defRPr>
            </a:pPr>
            <a:r>
              <a:t>Fonte: Relatórios Oficiais do Árbitro (FCMS), Federação Angolana de Futebol (FAF) e ANCAF · dados atualizados a 21/09/2026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88CA0"/>
                </a:solidFill>
                <a:latin typeface="Arial"/>
              </a:defRPr>
            </a:pPr>
            <a:r>
              <a:t>Transmissões Zsports e Rádio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Sexta 09/10 · 15:00 · Estádio dos Coqueiros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abusco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28216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Kabuscorp (9.º)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9164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Wiliete SC (1.º)</a:t>
            </a:r>
          </a:p>
        </p:txBody>
      </p:sp>
      <p:sp>
        <p:nvSpPr>
          <p:cNvPr id="15" name="Oval 14"/>
          <p:cNvSpPr/>
          <p:nvPr/>
        </p:nvSpPr>
        <p:spPr>
          <a:xfrm>
            <a:off x="5550408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728216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208483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Sexta 09/10 · 17:00 · Estádio 11 de Novembro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962656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156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Petro de Luanda (4.º)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9260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CR Caála (11.º)</a:t>
            </a:r>
          </a:p>
        </p:txBody>
      </p:sp>
      <p:sp>
        <p:nvSpPr>
          <p:cNvPr id="25" name="Oval 24"/>
          <p:cNvSpPr/>
          <p:nvPr/>
        </p:nvSpPr>
        <p:spPr>
          <a:xfrm>
            <a:off x="5550408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aa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2962656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331927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Sábado 10/10 · 15:00 · Estádio Sagrada Esperança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undas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1970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156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Desp. Lunda Sul (10.º)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16052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FC Cabinda (15.º)</a:t>
            </a:r>
          </a:p>
        </p:txBody>
      </p:sp>
      <p:sp>
        <p:nvSpPr>
          <p:cNvPr id="35" name="Oval 34"/>
          <p:cNvSpPr/>
          <p:nvPr/>
        </p:nvSpPr>
        <p:spPr>
          <a:xfrm>
            <a:off x="5550408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bin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6984" y="4197096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5800" y="455371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2978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Sábado 10/10 · 16:00 · Estádio 22 de Junho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ntercl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" y="5431536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156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GD Interclube (5.º)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39496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Sagrada Esp. (14.º)</a:t>
            </a:r>
          </a:p>
        </p:txBody>
      </p:sp>
      <p:sp>
        <p:nvSpPr>
          <p:cNvPr id="45" name="Oval 44"/>
          <p:cNvSpPr/>
          <p:nvPr/>
        </p:nvSpPr>
        <p:spPr>
          <a:xfrm>
            <a:off x="5550408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agrad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6984" y="5431536"/>
            <a:ext cx="219456" cy="21945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" y="578815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37160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142646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15:00 · Estádio do Buraco</a:t>
            </a:r>
          </a:p>
        </p:txBody>
      </p:sp>
      <p:sp>
        <p:nvSpPr>
          <p:cNvPr id="50" name="Oval 49"/>
          <p:cNvSpPr/>
          <p:nvPr/>
        </p:nvSpPr>
        <p:spPr>
          <a:xfrm>
            <a:off x="6355080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lobi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1728216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2084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Académica Lobito (16.º)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169164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1.º de Agosto (2.º)</a:t>
            </a:r>
          </a:p>
        </p:txBody>
      </p:sp>
      <p:sp>
        <p:nvSpPr>
          <p:cNvPr id="55" name="Oval 54"/>
          <p:cNvSpPr/>
          <p:nvPr/>
        </p:nvSpPr>
        <p:spPr>
          <a:xfrm>
            <a:off x="11219688" y="169164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da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56264" y="1728216"/>
            <a:ext cx="219456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355080" y="208483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TV · Zsports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60604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266090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15:00 · Estádio de São Filipe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primeiromai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2962656"/>
            <a:ext cx="219456" cy="21945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2084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Estrela 1.º Maio (7.º)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29260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Bravos do Maquis (3.º)</a:t>
            </a:r>
          </a:p>
        </p:txBody>
      </p:sp>
      <p:sp>
        <p:nvSpPr>
          <p:cNvPr id="65" name="Oval 64"/>
          <p:cNvSpPr/>
          <p:nvPr/>
        </p:nvSpPr>
        <p:spPr>
          <a:xfrm>
            <a:off x="11219688" y="292608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rav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6264" y="2962656"/>
            <a:ext cx="219456" cy="21945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355080" y="331927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84048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389534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15:00 · Estádio França N’dalu</a:t>
            </a:r>
          </a:p>
        </p:txBody>
      </p:sp>
      <p:sp>
        <p:nvSpPr>
          <p:cNvPr id="70" name="Oval 69"/>
          <p:cNvSpPr/>
          <p:nvPr/>
        </p:nvSpPr>
        <p:spPr>
          <a:xfrm>
            <a:off x="6355080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fcluand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656" y="4197096"/>
            <a:ext cx="219456" cy="21945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084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FC Luanda (12.º)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416052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Rec. do Libolo (8.º)</a:t>
            </a:r>
          </a:p>
        </p:txBody>
      </p:sp>
      <p:sp>
        <p:nvSpPr>
          <p:cNvPr id="75" name="Oval 74"/>
          <p:cNvSpPr/>
          <p:nvPr/>
        </p:nvSpPr>
        <p:spPr>
          <a:xfrm>
            <a:off x="11219688" y="416052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libol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56264" y="4197096"/>
            <a:ext cx="219456" cy="21945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355080" y="455371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5074920"/>
            <a:ext cx="5440680" cy="1115568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80" y="5129784"/>
            <a:ext cx="5166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2C94C"/>
                </a:solidFill>
              </a:defRPr>
            </a:pPr>
            <a:r>
              <a:t>Domingo 11/10 · 15:30 · Estádio da Tundavala</a:t>
            </a:r>
          </a:p>
        </p:txBody>
      </p:sp>
      <p:sp>
        <p:nvSpPr>
          <p:cNvPr id="80" name="Oval 79"/>
          <p:cNvSpPr/>
          <p:nvPr/>
        </p:nvSpPr>
        <p:spPr>
          <a:xfrm>
            <a:off x="6355080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desphuil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656" y="5431536"/>
            <a:ext cx="219456" cy="21945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72084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Desp. da Huíla (6.º)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41080" y="539496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78C9"/>
                </a:solidFill>
              </a:defRPr>
            </a:pPr>
            <a:r>
              <a:t>vs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São Salvador (13.º)</a:t>
            </a:r>
          </a:p>
        </p:txBody>
      </p:sp>
      <p:sp>
        <p:nvSpPr>
          <p:cNvPr id="85" name="Oval 84"/>
          <p:cNvSpPr/>
          <p:nvPr/>
        </p:nvSpPr>
        <p:spPr>
          <a:xfrm>
            <a:off x="11219688" y="5394960"/>
            <a:ext cx="292608" cy="292608"/>
          </a:xfrm>
          <a:prstGeom prst="ellipse">
            <a:avLst/>
          </a:prstGeom>
          <a:solidFill>
            <a:srgbClr val="103048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aosalvado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56264" y="5431536"/>
            <a:ext cx="219456" cy="219456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355080" y="578815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CA0"/>
                </a:solidFill>
              </a:defRPr>
            </a:pPr>
            <a:r>
              <a:t>Transmissão oficial: Rádio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girabol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1600200" cy="1783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83464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LIGA UNITEL GIRABOLA 2026/2027</a:t>
            </a:r>
          </a:p>
          <a:p>
            <a:pPr algn="ctr">
              <a:defRPr sz="1600" b="1">
                <a:solidFill>
                  <a:srgbClr val="F2C94C"/>
                </a:solidFill>
              </a:defRPr>
            </a:pPr>
            <a:r>
              <a:t>Balanço Consolidado das 5 Primeiras Jornadas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069080"/>
            <a:ext cx="2926080" cy="13716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2FC"/>
                </a:solidFill>
              </a:defRPr>
            </a:pPr>
            <a:r>
              <a:t>Liderança Inédita</a:t>
            </a:r>
          </a:p>
          <a:p>
            <a:pPr algn="ctr">
              <a:defRPr sz="950">
                <a:solidFill>
                  <a:srgbClr val="B4C3D2"/>
                </a:solidFill>
              </a:defRPr>
            </a:pPr>
            <a:r>
              <a:t>Wiliete SC comanda com 15 pontos em 5 jogos, melhor ataque (12 GM) e apenas 1 golo sofrido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069080"/>
            <a:ext cx="2926080" cy="13716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4206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2FC"/>
                </a:solidFill>
              </a:defRPr>
            </a:pPr>
            <a:r>
              <a:t>Invulnerabilidade</a:t>
            </a:r>
          </a:p>
          <a:p>
            <a:pPr algn="ctr">
              <a:defRPr sz="950">
                <a:solidFill>
                  <a:srgbClr val="B4C3D2"/>
                </a:solidFill>
              </a:defRPr>
            </a:pPr>
            <a:r>
              <a:t>Petro de Luanda segue sem golos sofridos (0 GS) e pode saltar para o 2.º posto no jogo adiado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069080"/>
            <a:ext cx="2926080" cy="1371600"/>
          </a:xfrm>
          <a:prstGeom prst="roundRect">
            <a:avLst/>
          </a:prstGeom>
          <a:solidFill>
            <a:srgbClr val="0C2739"/>
          </a:solidFill>
          <a:ln w="12700">
            <a:solidFill>
              <a:srgbClr val="19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4206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2FC"/>
                </a:solidFill>
              </a:defRPr>
            </a:pPr>
            <a:r>
              <a:t>Disputa Aberta</a:t>
            </a:r>
          </a:p>
          <a:p>
            <a:pPr algn="ctr">
              <a:defRPr sz="950">
                <a:solidFill>
                  <a:srgbClr val="B4C3D2"/>
                </a:solidFill>
              </a:defRPr>
            </a:pPr>
            <a:r>
              <a:t>Apenas 3 pontos separam o 2.º do 6.º lugar; luta ao rubro pelo acesso às provas da CAF e manutenção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8CA0"/>
                </a:solidFill>
              </a:defRPr>
            </a:pPr>
            <a:r>
              <a:t>Liga Unitel Girabola · Associação Nacional de Clubes Angolanos de Futebol (ANCAF) · Federação Angolana de Futebol (FAF)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