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F2C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6858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2C94C"/>
                </a:solidFill>
                <a:latin typeface="Arial"/>
              </a:defRPr>
            </a:pPr>
            <a:r>
              <a:t>LIGA UNITEL GIRABOLA 2026/27</a:t>
            </a:r>
          </a:p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RESCALDO OFICIAL</a:t>
            </a:r>
          </a:p>
          <a:p>
            <a:pPr>
              <a:defRPr sz="4400" b="1">
                <a:solidFill>
                  <a:srgbClr val="0878C9"/>
                </a:solidFill>
                <a:latin typeface="Arial"/>
              </a:defRPr>
            </a:pPr>
            <a:r>
              <a:t>3.ª JORNADA</a:t>
            </a:r>
          </a:p>
          <a:p>
            <a:pPr>
              <a:defRPr sz="1600">
                <a:solidFill>
                  <a:srgbClr val="B4C3D2"/>
                </a:solidFill>
                <a:latin typeface="Arial"/>
              </a:defRPr>
            </a:pPr>
            <a:r>
              <a:t>Resultados • Classificação • Análise Tática • Antevisão da 4.ª Jornada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645920"/>
            <a:ext cx="3200400" cy="347472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92024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2C94C"/>
                </a:solidFill>
              </a:defRPr>
            </a:pPr>
            <a:r>
              <a:t>DESTAQUES DA JORNADA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🏆 1.º de Agosto Isolado</a:t>
            </a:r>
          </a:p>
          <a:p>
            <a:pPr>
              <a:defRPr sz="1100">
                <a:solidFill>
                  <a:srgbClr val="B4C3D2"/>
                </a:solidFill>
              </a:defRPr>
            </a:pPr>
            <a:r>
              <a:t>3 vitórias em 3 jogos (9 pts)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🛡️ Petro Intransponível</a:t>
            </a:r>
          </a:p>
          <a:p>
            <a:pPr>
              <a:defRPr sz="1100">
                <a:solidFill>
                  <a:srgbClr val="B4C3D2"/>
                </a:solidFill>
              </a:defRPr>
            </a:pPr>
            <a:r>
              <a:t>3 jogos sem sofrer golos (0 GS)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⚽ Dagó Tshibamba</a:t>
            </a:r>
          </a:p>
          <a:p>
            <a:pPr>
              <a:defRPr sz="1100">
                <a:solidFill>
                  <a:srgbClr val="B4C3D2"/>
                </a:solidFill>
              </a:defRPr>
            </a:pPr>
            <a:r>
              <a:t>Líder da artilharia com 3 golos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🔥 Reviravolta Épica</a:t>
            </a:r>
          </a:p>
          <a:p>
            <a:pPr>
              <a:defRPr sz="1100">
                <a:solidFill>
                  <a:srgbClr val="B4C3D2"/>
                </a:solidFill>
              </a:defRPr>
            </a:pPr>
            <a:r>
              <a:t>1.º de Agosto bate Inter aos 90'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RESUMO ESTATÍSTICO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 3.ª JORNADA EM NÚMEROS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01168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878C9"/>
                </a:solidFill>
              </a:defRPr>
            </a:pPr>
            <a:r>
              <a:t>15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GOLOS MARCADOS</a:t>
            </a:r>
          </a:p>
          <a:p>
            <a:pPr>
              <a:defRPr sz="1100">
                <a:solidFill>
                  <a:srgbClr val="B4C3D2"/>
                </a:solidFill>
              </a:defRPr>
            </a:pPr>
            <a:r>
              <a:t>Nos 6 jogos realizados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463040"/>
            <a:ext cx="3383280" cy="2011680"/>
          </a:xfrm>
          <a:prstGeom prst="roundRect">
            <a:avLst/>
          </a:prstGeom>
          <a:solidFill>
            <a:srgbClr val="0C2739"/>
          </a:solidFill>
          <a:ln>
            <a:solidFill>
              <a:srgbClr val="0C2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6459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C2739"/>
                </a:solidFill>
              </a:defRPr>
            </a:pPr>
            <a:r>
              <a:t>6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JOGOS DISPUTADOS</a:t>
            </a:r>
          </a:p>
          <a:p>
            <a:pPr>
              <a:defRPr sz="1100">
                <a:solidFill>
                  <a:srgbClr val="B4C3D2"/>
                </a:solidFill>
              </a:defRPr>
            </a:pPr>
            <a:r>
              <a:t>2 jogos adiados p/ Taças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463040"/>
            <a:ext cx="3383280" cy="201168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93024" y="16459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878C9"/>
                </a:solidFill>
              </a:defRPr>
            </a:pPr>
            <a:r>
              <a:t>2.50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GOLOS / JOGO</a:t>
            </a:r>
          </a:p>
          <a:p>
            <a:pPr>
              <a:defRPr sz="1100">
                <a:solidFill>
                  <a:srgbClr val="B4C3D2"/>
                </a:solidFill>
              </a:defRPr>
            </a:pPr>
            <a:r>
              <a:t>Média ofensiva alta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3383280" cy="2011680"/>
          </a:xfrm>
          <a:prstGeom prst="roundRect">
            <a:avLst/>
          </a:prstGeom>
          <a:solidFill>
            <a:srgbClr val="0C2739"/>
          </a:solidFill>
          <a:ln>
            <a:solidFill>
              <a:srgbClr val="18B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31919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8B66A"/>
                </a:solidFill>
              </a:defRPr>
            </a:pPr>
            <a:r>
              <a:t>3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VITÓRIAS EM CASA</a:t>
            </a:r>
          </a:p>
          <a:p>
            <a:pPr>
              <a:defRPr sz="1100">
                <a:solidFill>
                  <a:srgbClr val="B4C3D2"/>
                </a:solidFill>
              </a:defRPr>
            </a:pPr>
            <a:r>
              <a:t>Petro, 1.º Agosto, FC Luanda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3749039"/>
            <a:ext cx="3383280" cy="2011680"/>
          </a:xfrm>
          <a:prstGeom prst="roundRect">
            <a:avLst/>
          </a:prstGeom>
          <a:solidFill>
            <a:srgbClr val="0C2739"/>
          </a:solidFill>
          <a:ln>
            <a:solidFill>
              <a:srgbClr val="18B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3931919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8B66A"/>
                </a:solidFill>
              </a:defRPr>
            </a:pPr>
            <a:r>
              <a:t>3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VITÓRIAS FORA</a:t>
            </a:r>
          </a:p>
          <a:p>
            <a:pPr>
              <a:defRPr sz="1100">
                <a:solidFill>
                  <a:srgbClr val="B4C3D2"/>
                </a:solidFill>
              </a:defRPr>
            </a:pPr>
            <a:r>
              <a:t>Caála, 1.º de Maio, São Salvador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3749039"/>
            <a:ext cx="3383280" cy="2011680"/>
          </a:xfrm>
          <a:prstGeom prst="roundRect">
            <a:avLst/>
          </a:prstGeom>
          <a:solidFill>
            <a:srgbClr val="0C2739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4" y="3931919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2C94C"/>
                </a:solidFill>
              </a:defRPr>
            </a:pPr>
            <a:r>
              <a:t>3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CLEAN SHEETS</a:t>
            </a:r>
          </a:p>
          <a:p>
            <a:pPr>
              <a:defRPr sz="1100">
                <a:solidFill>
                  <a:srgbClr val="B4C3D2"/>
                </a:solidFill>
              </a:defRPr>
            </a:pPr>
            <a:r>
              <a:t>Petro, 1.º de Maio, São Salvador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RESULTADOS OFICIAIS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MARCADORES E PLACAR DA 3.ª JORNADA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2286000"/>
          </a:xfrm>
          <a:prstGeom prst="roundRect">
            <a:avLst/>
          </a:prstGeom>
          <a:solidFill>
            <a:srgbClr val="0C2739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94C"/>
                </a:solidFill>
              </a:defRPr>
            </a:pPr>
            <a:r>
              <a:t>🗓️ 26 AGO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Petro de Luanda</a:t>
            </a:r>
          </a:p>
          <a:p>
            <a:pPr>
              <a:defRPr sz="2400" b="1">
                <a:solidFill>
                  <a:srgbClr val="F2C94C"/>
                </a:solidFill>
              </a:defRPr>
            </a:pPr>
            <a:r>
              <a:t>3  —  0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Recreativo do Libolo</a:t>
            </a:r>
          </a:p>
          <a:p>
            <a:pPr>
              <a:defRPr sz="900">
                <a:solidFill>
                  <a:srgbClr val="B4C3D2"/>
                </a:solidFill>
              </a:defRPr>
            </a:pPr>
            <a:r>
              <a:t>Rúben Adérito 22', Tiago Azulão 84', Deybi Flores 90+5'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371600"/>
            <a:ext cx="2560320" cy="2286000"/>
          </a:xfrm>
          <a:prstGeom prst="roundRect">
            <a:avLst/>
          </a:prstGeom>
          <a:solidFill>
            <a:srgbClr val="0C2739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93592" y="146304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94C"/>
                </a:solidFill>
              </a:defRPr>
            </a:pPr>
            <a:r>
              <a:t>🗓️ 01 SET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1.º de Agosto</a:t>
            </a:r>
          </a:p>
          <a:p>
            <a:pPr>
              <a:defRPr sz="2400" b="1">
                <a:solidFill>
                  <a:srgbClr val="F2C94C"/>
                </a:solidFill>
              </a:defRPr>
            </a:pPr>
            <a:r>
              <a:t>2  —  1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GD Interclube</a:t>
            </a:r>
          </a:p>
          <a:p>
            <a:pPr>
              <a:defRPr sz="900">
                <a:solidFill>
                  <a:srgbClr val="B4C3D2"/>
                </a:solidFill>
              </a:defRPr>
            </a:pPr>
            <a:r>
              <a:t>Dagó Tshibamba 79', Calebi Yanda 90' | Alexandre Fernando 45+5' (pen)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371600"/>
            <a:ext cx="2560320" cy="2286000"/>
          </a:xfrm>
          <a:prstGeom prst="roundRect">
            <a:avLst/>
          </a:prstGeom>
          <a:solidFill>
            <a:srgbClr val="0C2739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46304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94C"/>
                </a:solidFill>
              </a:defRPr>
            </a:pPr>
            <a:r>
              <a:t>🗓️ 05 SET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Desportivo da Lunda Sul</a:t>
            </a:r>
          </a:p>
          <a:p>
            <a:pPr>
              <a:defRPr sz="2400" b="1">
                <a:solidFill>
                  <a:srgbClr val="F2C94C"/>
                </a:solidFill>
              </a:defRPr>
            </a:pPr>
            <a:r>
              <a:t>1  —  2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CR Caála</a:t>
            </a:r>
          </a:p>
          <a:p>
            <a:pPr>
              <a:defRPr sz="900">
                <a:solidFill>
                  <a:srgbClr val="B4C3D2"/>
                </a:solidFill>
              </a:defRPr>
            </a:pPr>
            <a:r>
              <a:t>Mariano Vidal 15' (ag) | Benvindo Afonso 52', Tiago Jamba 90+4'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371600"/>
            <a:ext cx="2560320" cy="2286000"/>
          </a:xfrm>
          <a:prstGeom prst="roundRect">
            <a:avLst/>
          </a:prstGeom>
          <a:solidFill>
            <a:srgbClr val="0C2739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43416" y="146304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94C"/>
                </a:solidFill>
              </a:defRPr>
            </a:pPr>
            <a:r>
              <a:t>🗓️ 05 SET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FC Luanda</a:t>
            </a:r>
          </a:p>
          <a:p>
            <a:pPr>
              <a:defRPr sz="2400" b="1">
                <a:solidFill>
                  <a:srgbClr val="F2C94C"/>
                </a:solidFill>
              </a:defRPr>
            </a:pPr>
            <a:r>
              <a:t>2  —  1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FC Cabinda</a:t>
            </a:r>
          </a:p>
          <a:p>
            <a:pPr>
              <a:defRPr sz="900">
                <a:solidFill>
                  <a:srgbClr val="B4C3D2"/>
                </a:solidFill>
              </a:defRPr>
            </a:pPr>
            <a:r>
              <a:t>Jaime Caetano 1', 67' | Ariclenis Lede 29'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2560320" cy="2286000"/>
          </a:xfrm>
          <a:prstGeom prst="roundRect">
            <a:avLst/>
          </a:prstGeom>
          <a:solidFill>
            <a:srgbClr val="0C2739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3192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94C"/>
                </a:solidFill>
              </a:defRPr>
            </a:pPr>
            <a:r>
              <a:t>🗓️ 05 SET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Académica do Lobito</a:t>
            </a:r>
          </a:p>
          <a:p>
            <a:pPr>
              <a:defRPr sz="2400" b="1">
                <a:solidFill>
                  <a:srgbClr val="F2C94C"/>
                </a:solidFill>
              </a:defRPr>
            </a:pPr>
            <a:r>
              <a:t>0  —  2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Estrela 1.º de Maio</a:t>
            </a:r>
          </a:p>
          <a:p>
            <a:pPr>
              <a:defRPr sz="900">
                <a:solidFill>
                  <a:srgbClr val="B4C3D2"/>
                </a:solidFill>
              </a:defRPr>
            </a:pPr>
            <a:r>
              <a:t>Moisés 45+2', Kessie Messi 81'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3840480"/>
            <a:ext cx="2560320" cy="2286000"/>
          </a:xfrm>
          <a:prstGeom prst="roundRect">
            <a:avLst/>
          </a:prstGeom>
          <a:solidFill>
            <a:srgbClr val="0C2739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393192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94C"/>
                </a:solidFill>
              </a:defRPr>
            </a:pPr>
            <a:r>
              <a:t>🗓️ 06 SET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Bravos do Maquis</a:t>
            </a:r>
          </a:p>
          <a:p>
            <a:pPr>
              <a:defRPr sz="2400" b="1">
                <a:solidFill>
                  <a:srgbClr val="F2C94C"/>
                </a:solidFill>
              </a:defRPr>
            </a:pPr>
            <a:r>
              <a:t>0  —  1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São Salvador</a:t>
            </a:r>
          </a:p>
          <a:p>
            <a:pPr>
              <a:defRPr sz="900">
                <a:solidFill>
                  <a:srgbClr val="B4C3D2"/>
                </a:solidFill>
              </a:defRPr>
            </a:pPr>
            <a:r>
              <a:t>Beni Papel 27'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840480"/>
            <a:ext cx="2560320" cy="2286000"/>
          </a:xfrm>
          <a:prstGeom prst="roundRect">
            <a:avLst/>
          </a:prstGeom>
          <a:solidFill>
            <a:srgbClr val="0C2739"/>
          </a:solidFill>
          <a:ln>
            <a:solidFill>
              <a:srgbClr val="78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393192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8CA0"/>
                </a:solidFill>
              </a:defRPr>
            </a:pPr>
            <a:r>
              <a:t>🗓️ Adiado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Desportivo da Huíla</a:t>
            </a:r>
          </a:p>
          <a:p>
            <a:pPr>
              <a:defRPr sz="1600" b="1">
                <a:solidFill>
                  <a:srgbClr val="F2C94C"/>
                </a:solidFill>
              </a:defRPr>
            </a:pPr>
            <a:r>
              <a:t>ADIADO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Wiliete de Benguela</a:t>
            </a:r>
          </a:p>
          <a:p>
            <a:pPr>
              <a:defRPr sz="900">
                <a:solidFill>
                  <a:srgbClr val="B4C3D2"/>
                </a:solidFill>
              </a:defRPr>
            </a:pPr>
            <a:r>
              <a:t>Data a remarcar pela FAF/ANCAF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3840480"/>
            <a:ext cx="2560320" cy="2286000"/>
          </a:xfrm>
          <a:prstGeom prst="roundRect">
            <a:avLst/>
          </a:prstGeom>
          <a:solidFill>
            <a:srgbClr val="0C2739"/>
          </a:solidFill>
          <a:ln>
            <a:solidFill>
              <a:srgbClr val="788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393192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8CA0"/>
                </a:solidFill>
              </a:defRPr>
            </a:pPr>
            <a:r>
              <a:t>🗓️ 23 SET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Sagrada Esperança</a:t>
            </a:r>
          </a:p>
          <a:p>
            <a:pPr>
              <a:defRPr sz="1600" b="1">
                <a:solidFill>
                  <a:srgbClr val="F2C94C"/>
                </a:solidFill>
              </a:defRPr>
            </a:pPr>
            <a:r>
              <a:t>ADIADO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Kabuscorp SC</a:t>
            </a:r>
          </a:p>
          <a:p>
            <a:pPr>
              <a:defRPr sz="900">
                <a:solidFill>
                  <a:srgbClr val="B4C3D2"/>
                </a:solidFill>
              </a:defRPr>
            </a:pPr>
            <a:r>
              <a:t>Jogo agendado para 23/09/2026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DÉRBI DE LUANDA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JOGO DA JORNADA: REVIRAVOLTA MILITAR AOS 90'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486400" cy="484632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C94C"/>
                </a:solidFill>
              </a:defRPr>
            </a:pPr>
            <a:r>
              <a:t>ESTÁDIO FRANÇA NDALU · 8.000 ESPECTADORES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CD 1.º DE AGOSTO   2 — 1   GD INTERCLUBE</a:t>
            </a:r>
          </a:p>
          <a:p>
            <a:br/>
            <a:pPr>
              <a:defRPr sz="1400" b="1">
                <a:solidFill>
                  <a:srgbClr val="0878C9"/>
                </a:solidFill>
              </a:defRPr>
            </a:pPr>
            <a:r>
              <a:t>⏱️ FILME DO JOGO:</a:t>
            </a:r>
          </a:p>
          <a:p>
            <a:pPr>
              <a:defRPr sz="1200" b="1">
                <a:solidFill>
                  <a:srgbClr val="F2C94C"/>
                </a:solidFill>
              </a:defRPr>
            </a:pPr>
            <a:r>
              <a:t>• 45+5' — GOLO (Interclube)</a:t>
            </a:r>
          </a:p>
          <a:p>
            <a:pPr>
              <a:defRPr sz="1100">
                <a:solidFill>
                  <a:srgbClr val="B4C3D2"/>
                </a:solidFill>
              </a:defRPr>
            </a:pPr>
            <a:r>
              <a:t>   Alexandre Fernando converte grande penalidade no fecho do primeiro tempo (0-1).</a:t>
            </a:r>
          </a:p>
          <a:p>
            <a:pPr>
              <a:defRPr sz="1200" b="1">
                <a:solidFill>
                  <a:srgbClr val="F2C94C"/>
                </a:solidFill>
              </a:defRPr>
            </a:pPr>
            <a:r>
              <a:t>• 79' — GOLO (1.º de Agosto)</a:t>
            </a:r>
          </a:p>
          <a:p>
            <a:pPr>
              <a:defRPr sz="1100">
                <a:solidFill>
                  <a:srgbClr val="B4C3D2"/>
                </a:solidFill>
              </a:defRPr>
            </a:pPr>
            <a:r>
              <a:t>   Dagó Tshibamba restabelece a igualdade com remate fulgurante na grande área (1-1).</a:t>
            </a:r>
          </a:p>
          <a:p>
            <a:pPr>
              <a:defRPr sz="1200" b="1">
                <a:solidFill>
                  <a:srgbClr val="F2C94C"/>
                </a:solidFill>
              </a:defRPr>
            </a:pPr>
            <a:r>
              <a:t>• 90' — GOLO (1.º de Agosto)</a:t>
            </a:r>
          </a:p>
          <a:p>
            <a:pPr>
              <a:defRPr sz="1100">
                <a:solidFill>
                  <a:srgbClr val="B4C3D2"/>
                </a:solidFill>
              </a:defRPr>
            </a:pPr>
            <a:r>
              <a:t>   Calebi Yanda sela a reviravolta militar com golo salvador aos 90 minutos (2-1).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71600"/>
            <a:ext cx="4846320" cy="4846320"/>
          </a:xfrm>
          <a:prstGeom prst="roundRect">
            <a:avLst/>
          </a:prstGeom>
          <a:solidFill>
            <a:srgbClr val="103048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645920"/>
            <a:ext cx="4297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2C94C"/>
                </a:solidFill>
              </a:defRPr>
            </a:pPr>
            <a:r>
              <a:t>ANÁLISE EDITORIAL DA PARTIDA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“O dérbi da capital no França Ndalu foi o mais emotivo da temporada até ao momento. O Interclube entrou taticamente coeso e conseguiu chegar à vantagem num penálti controverso convertido por Alexandre Fernando nos descontos do primeiro tempo.</a:t>
            </a:r>
            <a:br/>
            <a:br/>
            <a:r>
              <a:t>Na segunda metade, a equipa militar de Filipe Nzanza aumentou a intensidade nas alas e pressionou alto. A recompensa chegou aos 79' pelo goleador do campeonato Dagó Tshibamba. Quando o empate parecia selado, a perseverança do 1.º de Agosto operou o milagre: Calebi Yanda fez explodir as bancadas aos 90 minutos, garantindo 3 pontos capitais que isolam os Militares na liderança absoluta com 9 pontos em 3 jornadas.”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CLASSIFICAÇÃO GERAL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TABELA OFICIAL DA LIGA UNITEL GIRABOLA 2026/27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92354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291840"/>
                <a:gridCol w="640080"/>
                <a:gridCol w="640080"/>
                <a:gridCol w="640080"/>
                <a:gridCol w="640080"/>
                <a:gridCol w="640080"/>
                <a:gridCol w="640080"/>
                <a:gridCol w="731520"/>
                <a:gridCol w="822960"/>
              </a:tblGrid>
              <a:tr h="295835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100" b="1">
                          <a:solidFill>
                            <a:srgbClr val="F2C94C"/>
                          </a:solidFill>
                          <a:latin typeface="Arial"/>
                        </a:defRPr>
                      </a:pPr>
                      <a:r>
                        <a:t>POS</a:t>
                      </a:r>
                    </a:p>
                  </a:txBody>
                  <a:tcPr anchor="ctr">
                    <a:solidFill>
                      <a:srgbClr val="0878C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100" b="1">
                          <a:solidFill>
                            <a:srgbClr val="F2C94C"/>
                          </a:solidFill>
                          <a:latin typeface="Arial"/>
                        </a:defRPr>
                      </a:pPr>
                      <a:r>
                        <a:t>EQUIPA</a:t>
                      </a:r>
                    </a:p>
                  </a:txBody>
                  <a:tcPr anchor="ctr">
                    <a:solidFill>
                      <a:srgbClr val="0878C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100" b="1">
                          <a:solidFill>
                            <a:srgbClr val="F2C94C"/>
                          </a:solidFill>
                          <a:latin typeface="Arial"/>
                        </a:defRPr>
                      </a:pPr>
                      <a:r>
                        <a:t>J</a:t>
                      </a:r>
                    </a:p>
                  </a:txBody>
                  <a:tcPr anchor="ctr">
                    <a:solidFill>
                      <a:srgbClr val="0878C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100" b="1">
                          <a:solidFill>
                            <a:srgbClr val="F2C94C"/>
                          </a:solidFill>
                          <a:latin typeface="Arial"/>
                        </a:defRPr>
                      </a:pPr>
                      <a:r>
                        <a:t>V</a:t>
                      </a:r>
                    </a:p>
                  </a:txBody>
                  <a:tcPr anchor="ctr">
                    <a:solidFill>
                      <a:srgbClr val="0878C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100" b="1">
                          <a:solidFill>
                            <a:srgbClr val="F2C94C"/>
                          </a:solidFill>
                          <a:latin typeface="Arial"/>
                        </a:defRPr>
                      </a:pPr>
                      <a:r>
                        <a:t>E</a:t>
                      </a:r>
                    </a:p>
                  </a:txBody>
                  <a:tcPr anchor="ctr">
                    <a:solidFill>
                      <a:srgbClr val="0878C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100" b="1">
                          <a:solidFill>
                            <a:srgbClr val="F2C94C"/>
                          </a:solidFill>
                          <a:latin typeface="Arial"/>
                        </a:defRPr>
                      </a:pPr>
                      <a:r>
                        <a:t>D</a:t>
                      </a:r>
                    </a:p>
                  </a:txBody>
                  <a:tcPr anchor="ctr">
                    <a:solidFill>
                      <a:srgbClr val="0878C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100" b="1">
                          <a:solidFill>
                            <a:srgbClr val="F2C94C"/>
                          </a:solidFill>
                          <a:latin typeface="Arial"/>
                        </a:defRPr>
                      </a:pPr>
                      <a:r>
                        <a:t>GM</a:t>
                      </a:r>
                    </a:p>
                  </a:txBody>
                  <a:tcPr anchor="ctr">
                    <a:solidFill>
                      <a:srgbClr val="0878C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100" b="1">
                          <a:solidFill>
                            <a:srgbClr val="F2C94C"/>
                          </a:solidFill>
                          <a:latin typeface="Arial"/>
                        </a:defRPr>
                      </a:pPr>
                      <a:r>
                        <a:t>GS</a:t>
                      </a:r>
                    </a:p>
                  </a:txBody>
                  <a:tcPr anchor="ctr">
                    <a:solidFill>
                      <a:srgbClr val="0878C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100" b="1">
                          <a:solidFill>
                            <a:srgbClr val="F2C94C"/>
                          </a:solidFill>
                          <a:latin typeface="Arial"/>
                        </a:defRPr>
                      </a:pPr>
                      <a:r>
                        <a:t>DG</a:t>
                      </a:r>
                    </a:p>
                  </a:txBody>
                  <a:tcPr anchor="ctr">
                    <a:solidFill>
                      <a:srgbClr val="0878C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100" b="1">
                          <a:solidFill>
                            <a:srgbClr val="F2C94C"/>
                          </a:solidFill>
                          <a:latin typeface="Arial"/>
                        </a:defRPr>
                      </a:pPr>
                      <a:r>
                        <a:t>PTS</a:t>
                      </a:r>
                    </a:p>
                  </a:txBody>
                  <a:tcPr anchor="ctr">
                    <a:solidFill>
                      <a:srgbClr val="0878C9"/>
                    </a:solidFill>
                  </a:tcPr>
                </a:tc>
              </a:tr>
              <a:tr h="295835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F2C94C"/>
                          </a:solidFill>
                          <a:latin typeface="Arial"/>
                        </a:defRPr>
                      </a:pPr>
                      <a:r>
                        <a:t>01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CD 1.º DE AGOSTO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F2C94C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</a:tr>
              <a:tr h="295835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18B66A"/>
                          </a:solidFill>
                          <a:latin typeface="Arial"/>
                        </a:defRPr>
                      </a:pPr>
                      <a:r>
                        <a:t>02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PETRO DE LUANDA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18B66A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</a:tr>
              <a:tr h="295835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18B66A"/>
                          </a:solidFill>
                          <a:latin typeface="Arial"/>
                        </a:defRPr>
                      </a:pPr>
                      <a:r>
                        <a:t>03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BRAVOS DO MAQUIS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18B66A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</a:tr>
              <a:tr h="295835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18B66A"/>
                          </a:solidFill>
                          <a:latin typeface="Arial"/>
                        </a:defRPr>
                      </a:pPr>
                      <a:r>
                        <a:t>04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WILIETE DE BENGUELA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18B66A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</a:tr>
              <a:tr h="295835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05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GD INTERCLUBE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+1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</a:tr>
              <a:tr h="295835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06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ESTRELA 1.º DE MAIO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+1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</a:tr>
              <a:tr h="295835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07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 CAÁLA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</a:tr>
              <a:tr h="295835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08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FC DE LUANDA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</a:tr>
              <a:tr h="295835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09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DESPORTIVO DA HUÍLA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</a:tr>
              <a:tr h="295835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RECREATIVO DO LIBOLO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</a:tr>
              <a:tr h="295835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SAGRADA ESPERANÇA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</a:tr>
              <a:tr h="295835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SÃO SALVADOR DO KONGO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</a:tr>
              <a:tr h="295835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KABUSCORP SC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</a:tr>
              <a:tr h="295835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E63946"/>
                          </a:solidFill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DESPORTIVO DA LUNDA SUL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E63946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</a:tr>
              <a:tr h="295835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E63946"/>
                          </a:solidFill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FC DE CABINDA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E63946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0C2739"/>
                    </a:solidFill>
                  </a:tcPr>
                </a:tc>
              </a:tr>
              <a:tr h="295840"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E63946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ACADÉMICA DO LOBITO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  <a:tc>
                  <a:txBody>
                    <a:bodyPr wrap="square" lIns="45720" rIns="45720" tIns="18288" bIns="18288"/>
                    <a:lstStyle/>
                    <a:p>
                      <a:pPr algn="ctr">
                        <a:defRPr sz="1000" b="1">
                          <a:solidFill>
                            <a:srgbClr val="E63946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030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ESTATÍSTICA OFENSIVA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PRODUTIVIDADE OFENSIVA — GOLOS MARCADOS POR CLUBE</a:t>
            </a:r>
          </a:p>
        </p:txBody>
      </p:sp>
      <p:pic>
        <p:nvPicPr>
          <p:cNvPr id="4" name="Picture 3" descr="grafico_ata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772400" cy="3886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778240" y="1371600"/>
            <a:ext cx="2651760" cy="475488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164592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2C94C"/>
                </a:solidFill>
              </a:defRPr>
            </a:pPr>
            <a:r>
              <a:t>RADAR OFENSIVO</a:t>
            </a:r>
          </a:p>
          <a:p>
            <a:br/>
            <a:pPr>
              <a:defRPr sz="1200">
                <a:solidFill>
                  <a:srgbClr val="B4C3D2"/>
                </a:solidFill>
              </a:defRPr>
            </a:pPr>
            <a:r>
              <a:t>• 1.º de Agosto e Petro lideram com 5 golos marcados em 3 jornadas.</a:t>
            </a:r>
            <a:br/>
            <a:br/>
            <a:r>
              <a:t>• O Wiliete mantém média espetacular de 2.0 golos por jogo (4 golos em apenas 2 jogos disputados).</a:t>
            </a:r>
            <a:br/>
            <a:br/>
            <a:r>
              <a:t>• Destaque para o Estrela 1.º de Maio com 4 golos marcados, subindo para a 6.ª posição da tabela.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SEGURANÇA DEFENSIVA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CONSISTÊNCIA DEFENSIVA — GOLOS SOFRIDOS POR CLUBE</a:t>
            </a:r>
          </a:p>
        </p:txBody>
      </p:sp>
      <p:pic>
        <p:nvPicPr>
          <p:cNvPr id="4" name="Picture 3" descr="grafico_defe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772400" cy="3886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778240" y="1371600"/>
            <a:ext cx="2651760" cy="4754880"/>
          </a:xfrm>
          <a:prstGeom prst="roundRect">
            <a:avLst/>
          </a:prstGeom>
          <a:solidFill>
            <a:srgbClr val="0C2739"/>
          </a:solidFill>
          <a:ln>
            <a:solidFill>
              <a:srgbClr val="18B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164592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2C94C"/>
                </a:solidFill>
              </a:defRPr>
            </a:pPr>
            <a:r>
              <a:t>MURALHA TRICOLOR</a:t>
            </a:r>
          </a:p>
          <a:p>
            <a:br/>
            <a:pPr>
              <a:defRPr sz="1200">
                <a:solidFill>
                  <a:srgbClr val="B4C3D2"/>
                </a:solidFill>
              </a:defRPr>
            </a:pPr>
            <a:r>
              <a:t>• O Petro de Luanda é a única equipa sem golos sofridos no campeonato (0 GS em 3 jogos).</a:t>
            </a:r>
            <a:br/>
            <a:br/>
            <a:r>
              <a:t>• Wiliete e Bravos do Maquis sofreram apenas 1 golo cada, confirmando consistência tática do setor recuado.</a:t>
            </a:r>
            <a:br/>
            <a:br/>
            <a:r>
              <a:t>• Na cauda, FC Cabinda (7 sofridos) e Académica do Lobito (6 sofridos) enfrentam sérias dificuldades defensivas.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SOLIDEZ DOS GUARDA-REDES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AS BALIZAS MAIS PROTEGIDAS — CLEAN SHEETS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822960"/>
          </a:xfrm>
          <a:prstGeom prst="roundRect">
            <a:avLst/>
          </a:prstGeom>
          <a:solidFill>
            <a:srgbClr val="0C2739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PETRO DE LUANDA   ·   Hugo Marques (2) &amp; Neblú (1)</a:t>
            </a:r>
          </a:p>
          <a:p>
            <a:pPr>
              <a:defRPr sz="1200" b="1">
                <a:solidFill>
                  <a:srgbClr val="F2C94C"/>
                </a:solidFill>
              </a:defRPr>
            </a:pPr>
            <a:r>
              <a:t>3 Jogos Disputados   |   3 Jogos Sem Sofrer (Clean Sheets)   |   Taxa de Eficácia: 100%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10728655" cy="82296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BRAVOS DO MAQUIS   ·   Nathan (Guarda-Redes Titular)</a:t>
            </a:r>
          </a:p>
          <a:p>
            <a:pPr>
              <a:defRPr sz="1200" b="1">
                <a:solidFill>
                  <a:srgbClr val="0878C9"/>
                </a:solidFill>
              </a:defRPr>
            </a:pPr>
            <a:r>
              <a:t>3 Jogos Disputados   |   2 Jogos Sem Sofrer (Clean Sheets)   |   Taxa de Eficácia: 66.7%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728655" cy="822960"/>
          </a:xfrm>
          <a:prstGeom prst="roundRect">
            <a:avLst/>
          </a:prstGeom>
          <a:solidFill>
            <a:srgbClr val="0C2739"/>
          </a:solidFill>
          <a:ln>
            <a:solidFill>
              <a:srgbClr val="18B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WILIETE DE BENGUELA   ·   Gelson (Guarda-Redes Titular)</a:t>
            </a:r>
          </a:p>
          <a:p>
            <a:pPr>
              <a:defRPr sz="1200" b="1">
                <a:solidFill>
                  <a:srgbClr val="18B66A"/>
                </a:solidFill>
              </a:defRPr>
            </a:pPr>
            <a:r>
              <a:t>2 Jogos Disputados   |   1 Jogo Sem Sofrer (Clean Sheets)   |   Taxa de Eficácia: 50.0%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51960"/>
            <a:ext cx="10728655" cy="822960"/>
          </a:xfrm>
          <a:prstGeom prst="roundRect">
            <a:avLst/>
          </a:prstGeom>
          <a:solidFill>
            <a:srgbClr val="0C2739"/>
          </a:solidFill>
          <a:ln>
            <a:solidFill>
              <a:srgbClr val="18B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ESTRELA 1.º DE MAIO   ·   Benvindo (Guarda-Redes)</a:t>
            </a:r>
          </a:p>
          <a:p>
            <a:pPr>
              <a:defRPr sz="1200" b="1">
                <a:solidFill>
                  <a:srgbClr val="18B66A"/>
                </a:solidFill>
              </a:defRPr>
            </a:pPr>
            <a:r>
              <a:t>3 Jogos Disputados   |   1 Jogo Sem Sofrer (Clean Sheets)   |   Taxa de Eficácia: 33.3%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10728655" cy="822960"/>
          </a:xfrm>
          <a:prstGeom prst="roundRect">
            <a:avLst/>
          </a:prstGeom>
          <a:solidFill>
            <a:srgbClr val="0C2739"/>
          </a:solidFill>
          <a:ln>
            <a:solidFill>
              <a:srgbClr val="18B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0352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SÃO SALVADOR   ·   Nsesani (Guarda-Redes)</a:t>
            </a:r>
          </a:p>
          <a:p>
            <a:pPr>
              <a:defRPr sz="1200" b="1">
                <a:solidFill>
                  <a:srgbClr val="18B66A"/>
                </a:solidFill>
              </a:defRPr>
            </a:pPr>
            <a:r>
              <a:t>3 Jogos Disputados   |   1 Jogo Sem Sofrer (Clean Sheets)   |   Taxa de Eficácia: 33.3%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GOLEADORES DA ÉPOCA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ARTILHARIA OFICIAL DA LIGA UNITEL GIRABOLA 2026/27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0C2739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2C94C"/>
                </a:solidFill>
              </a:defRPr>
            </a:pPr>
            <a:r>
              <a:t>LÍDER DA ARTILHARIA</a:t>
            </a:r>
          </a:p>
          <a:p>
            <a:pPr>
              <a:defRPr sz="3600" b="1">
                <a:solidFill>
                  <a:srgbClr val="F2C94C"/>
                </a:solidFill>
              </a:defRPr>
            </a:pPr>
            <a:r>
              <a:t>3  DAGÓ TSHIBAMBA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Clube Desportivo 1.º de Agosto · Avançado</a:t>
            </a:r>
          </a:p>
          <a:p>
            <a:br/>
            <a:pPr>
              <a:defRPr sz="1200">
                <a:solidFill>
                  <a:srgbClr val="B4C3D2"/>
                </a:solidFill>
              </a:defRPr>
            </a:pPr>
            <a:r>
              <a:t>• Média de 1.00 golo por jogo (3 golos em 3 aparições).</a:t>
            </a:r>
            <a:br/>
            <a:r>
              <a:t>• Marcou em momentos capitais contra Desportivo da Huíla e o empate no dérbi com o Interclube.</a:t>
            </a:r>
            <a:br/>
            <a:r>
              <a:t>• Principal referência ofensiva da formação militar orientada por Filipe Nzanza.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846320"/>
          </a:xfrm>
          <a:prstGeom prst="roundRect">
            <a:avLst/>
          </a:prstGeom>
          <a:solidFill>
            <a:srgbClr val="103048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645920"/>
            <a:ext cx="4480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878C9"/>
                </a:solidFill>
              </a:defRPr>
            </a:pPr>
            <a:r>
              <a:t>TOP MARCADORES PERSEGUIDORES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2 GOLOS — Tiago Azulão (Petro de Luanda · Avançado histórico)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2 GOLOS — Jaime Caetano (FC Luanda · Médio ofensivo (Bis na J3))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1 GOLO — Rúben Adérito (Petro de Luanda · Defesa)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1 GOLO — Depú (Petro de Luanda · Avançado)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1 GOLO — Calebi Yanda (1.º de Agosto · Herói do dérbi aos 90')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1 GOLO — Alexandre Fernando (GD Interclube · Médio)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1 GOLO — Beni Papel (São Salvador · Golo da vitória nos Maquis)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DISTRIBUIÇÃO TEMPORAL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QUANDO SÃO MARCADOS OS GOLOS? (TOTAL ÉPOCA: 48 GOLOS)</a:t>
            </a:r>
          </a:p>
        </p:txBody>
      </p:sp>
      <p:pic>
        <p:nvPicPr>
          <p:cNvPr id="4" name="Picture 3" descr="grafico_go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772400" cy="373075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778240" y="1371600"/>
            <a:ext cx="2651760" cy="4754880"/>
          </a:xfrm>
          <a:prstGeom prst="roundRect">
            <a:avLst/>
          </a:prstGeom>
          <a:solidFill>
            <a:srgbClr val="0C2739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0" y="1645920"/>
            <a:ext cx="228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2C94C"/>
                </a:solidFill>
              </a:defRPr>
            </a:pPr>
            <a:r>
              <a:t>INSIGHT TÁTICO</a:t>
            </a:r>
          </a:p>
          <a:p>
            <a:br/>
            <a:pPr>
              <a:defRPr sz="1200">
                <a:solidFill>
                  <a:srgbClr val="B4C3D2"/>
                </a:solidFill>
              </a:defRPr>
            </a:pPr>
            <a:r>
              <a:t>• O período dos 76' aos 90+' minutos é o mais letal do Girabola, registando 13 golos (27.1% do total da liga).</a:t>
            </a:r>
            <a:br/>
            <a:br/>
            <a:r>
              <a:t>• Na 3ª jornada, nada menos que 4 golos decisivos ocorreram nos descontos (90'+).</a:t>
            </a:r>
            <a:br/>
            <a:br/>
            <a:r>
              <a:t>• O desgaste físico dos minutos finais tem sido explorado pelas equipas com bancos mais profundos.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DINÂMICA DO TRONO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 LIDERANÇA MUDOU: 3 JORNADAS, 3 LÍDERES DISTINTOS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28016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2C94C"/>
                </a:solidFill>
              </a:defRPr>
            </a:pPr>
            <a:r>
              <a:t>1.ª JORNADA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RECREATIVO DO LIBOLO &amp; BRAVOS</a:t>
            </a:r>
          </a:p>
          <a:p>
            <a:pPr>
              <a:defRPr sz="1200">
                <a:solidFill>
                  <a:srgbClr val="B4C3D2"/>
                </a:solidFill>
              </a:defRPr>
            </a:pPr>
            <a:r>
              <a:t>Vitórias por 3-0 fora e em casa inauguraram o topo da tabela.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728655" cy="128016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1546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2C94C"/>
                </a:solidFill>
              </a:defRPr>
            </a:pPr>
            <a:r>
              <a:t>2.ª JORNADA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FC BRAVOS DO MAQUIS</a:t>
            </a:r>
          </a:p>
          <a:p>
            <a:pPr>
              <a:defRPr sz="1200">
                <a:solidFill>
                  <a:srgbClr val="B4C3D2"/>
                </a:solidFill>
              </a:defRPr>
            </a:pPr>
            <a:r>
              <a:t>Vitória heroica em Calulo isolou os Maquisardes com 6 pontos e saldo positivo (+4).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728655" cy="1280160"/>
          </a:xfrm>
          <a:prstGeom prst="roundRect">
            <a:avLst/>
          </a:prstGeom>
          <a:solidFill>
            <a:srgbClr val="0C2739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7091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2C94C"/>
                </a:solidFill>
              </a:defRPr>
            </a:pPr>
            <a:r>
              <a:t>3.ª JORNADA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CD 1.º DE AGOSTO (ISOLADO)</a:t>
            </a:r>
          </a:p>
          <a:p>
            <a:pPr>
              <a:defRPr sz="1200">
                <a:solidFill>
                  <a:srgbClr val="B4C3D2"/>
                </a:solidFill>
              </a:defRPr>
            </a:pPr>
            <a:r>
              <a:t>Reviravolta épica no dérbi militar garantiu o pleno de 9 pontos em 3 jornadas.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DISCIPLINA E FAIR-PLAY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 BATALHA DOS CARTÕES — REGISTOS DAS FICHAS DE JOGO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011680"/>
          </a:xfrm>
          <a:prstGeom prst="roundRect">
            <a:avLst/>
          </a:prstGeom>
          <a:solidFill>
            <a:srgbClr val="0C2739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2C94C"/>
                </a:solidFill>
              </a:defRPr>
            </a:pPr>
            <a:r>
              <a:t>82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🟨 CARTÕES AMARELOS</a:t>
            </a:r>
          </a:p>
          <a:p>
            <a:pPr>
              <a:defRPr sz="1100">
                <a:solidFill>
                  <a:srgbClr val="B4C3D2"/>
                </a:solidFill>
              </a:defRPr>
            </a:pPr>
            <a:r>
              <a:t>Total acumulado nas fichas de arbitragem oficiais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463040"/>
            <a:ext cx="3383280" cy="2011680"/>
          </a:xfrm>
          <a:prstGeom prst="roundRect">
            <a:avLst/>
          </a:prstGeom>
          <a:solidFill>
            <a:srgbClr val="0C2739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6459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E63946"/>
                </a:solidFill>
              </a:defRPr>
            </a:pPr>
            <a:r>
              <a:t>1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🟥 CARTÃO VERMELHO</a:t>
            </a:r>
          </a:p>
          <a:p>
            <a:pPr>
              <a:defRPr sz="1100">
                <a:solidFill>
                  <a:srgbClr val="B4C3D2"/>
                </a:solidFill>
              </a:defRPr>
            </a:pPr>
            <a:r>
              <a:t>Apenas 1 expulsão em 22 jogos concluídos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463040"/>
            <a:ext cx="3383280" cy="201168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93024" y="16459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0878C9"/>
                </a:solidFill>
              </a:defRPr>
            </a:pPr>
            <a:r>
              <a:t>3.73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MÉDIA POR JOGO</a:t>
            </a:r>
          </a:p>
          <a:p>
            <a:pPr>
              <a:defRPr sz="1100">
                <a:solidFill>
                  <a:srgbClr val="B4C3D2"/>
                </a:solidFill>
              </a:defRPr>
            </a:pPr>
            <a:r>
              <a:t>Cartões exibidos por partida disputada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728655" cy="2286000"/>
          </a:xfrm>
          <a:prstGeom prst="roundRect">
            <a:avLst/>
          </a:prstGeom>
          <a:solidFill>
            <a:srgbClr val="103048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2C94C"/>
                </a:solidFill>
              </a:defRPr>
            </a:pPr>
            <a:r>
              <a:t>DESTAQUES DISCIPLINARES DA 3.ª JORNADA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O duelo Académica do Lobito 0 — 2 Estrela 1.º de Maio foi o mais disputado da jornada, acumulando 9 advertências com cartão amarelo.</a:t>
            </a:r>
            <a:br/>
            <a:r>
              <a:t>• O campeonato mantém elevado rigor disciplinar sem episódios graves de indisciplina — apenas 1 vermelho direto em 22 jogos.</a:t>
            </a:r>
            <a:br/>
            <a:r>
              <a:t>• Arbitragens rigorosas na marcação de faltas tácticas têm evitado lances de violência excessiva.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PODER DE SUPERAÇÃO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QUEM SABE RECUPERAR PONTOS? REVIRAVOLTAS DA 3.ª JORNADA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2011680"/>
          </a:xfrm>
          <a:prstGeom prst="roundRect">
            <a:avLst/>
          </a:prstGeom>
          <a:solidFill>
            <a:srgbClr val="0C2739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2C94C"/>
                </a:solidFill>
              </a:defRPr>
            </a:pPr>
            <a:r>
              <a:t>1.º DE AGOSTO (3 PONTOS RECUPERADOS)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Estádio França Ndalu · 2-1 vs Interclube</a:t>
            </a:r>
          </a:p>
          <a:p>
            <a:br/>
            <a:pPr>
              <a:defRPr sz="1200">
                <a:solidFill>
                  <a:srgbClr val="B4C3D2"/>
                </a:solidFill>
              </a:defRPr>
            </a:pPr>
            <a:r>
              <a:t>Esteve em desvantagem até aos 79 minutos. Marcou aos 79' e 90', transformando uma derrota quase certa numa vitória memorável que valeu a liderança.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10728655" cy="2011680"/>
          </a:xfrm>
          <a:prstGeom prst="roundRect">
            <a:avLst/>
          </a:prstGeom>
          <a:solidFill>
            <a:srgbClr val="0C2739"/>
          </a:solidFill>
          <a:ln>
            <a:solidFill>
              <a:srgbClr val="18B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931919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B66A"/>
                </a:solidFill>
              </a:defRPr>
            </a:pPr>
            <a:r>
              <a:t>CR CAÁLA (3 PONTOS RECUPERADOS)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Estádio Sagrada Esperança · 2-1 vs Desportivo da Lunda Sul</a:t>
            </a:r>
          </a:p>
          <a:p>
            <a:br/>
            <a:pPr>
              <a:defRPr sz="1200">
                <a:solidFill>
                  <a:srgbClr val="B4C3D2"/>
                </a:solidFill>
              </a:defRPr>
            </a:pPr>
            <a:r>
              <a:t>Sofreu golo aos 15 minutos em Dundo. Empatou aos 52' por Benvindo Afonso e selou a virada épica aos 90+4' por Tiago Jamba Adelino.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PRÓXIMO DESAFIO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CALENDÁRIO OFICIAL CONFIRMADO DA 4.ª JORNADA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219456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81328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94C"/>
                </a:solidFill>
              </a:defRPr>
            </a:pPr>
            <a:r>
              <a:t>🗓️ 09 SET · 15:30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FC Cabinda</a:t>
            </a:r>
          </a:p>
          <a:p>
            <a:pPr>
              <a:defRPr sz="1100">
                <a:solidFill>
                  <a:srgbClr val="F2C94C"/>
                </a:solidFill>
              </a:defRPr>
            </a:pPr>
            <a:r>
              <a:t>vs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1.º de Agosto</a:t>
            </a:r>
          </a:p>
          <a:p>
            <a:br/>
            <a:pPr>
              <a:defRPr sz="900">
                <a:solidFill>
                  <a:srgbClr val="B4C3D2"/>
                </a:solidFill>
              </a:defRPr>
            </a:pPr>
            <a:r>
              <a:t>📍 Estádio Vici António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371600"/>
            <a:ext cx="2560320" cy="219456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93592" y="1481328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94C"/>
                </a:solidFill>
              </a:defRPr>
            </a:pPr>
            <a:r>
              <a:t>🗓️ 10 SET · 15:30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GD Interclube</a:t>
            </a:r>
          </a:p>
          <a:p>
            <a:pPr>
              <a:defRPr sz="1100">
                <a:solidFill>
                  <a:srgbClr val="F2C94C"/>
                </a:solidFill>
              </a:defRPr>
            </a:pPr>
            <a:r>
              <a:t>vs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Académica do Lobito</a:t>
            </a:r>
          </a:p>
          <a:p>
            <a:br/>
            <a:pPr>
              <a:defRPr sz="900">
                <a:solidFill>
                  <a:srgbClr val="B4C3D2"/>
                </a:solidFill>
              </a:defRPr>
            </a:pPr>
            <a:r>
              <a:t>📍 Estádio 22 de Junho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371600"/>
            <a:ext cx="2560320" cy="219456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481328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94C"/>
                </a:solidFill>
              </a:defRPr>
            </a:pPr>
            <a:r>
              <a:t>🗓️ 12 SET · 15:00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Recreativo do Libolo</a:t>
            </a:r>
          </a:p>
          <a:p>
            <a:pPr>
              <a:defRPr sz="1100">
                <a:solidFill>
                  <a:srgbClr val="F2C94C"/>
                </a:solidFill>
              </a:defRPr>
            </a:pPr>
            <a:r>
              <a:t>vs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Estrela 1.º de Maio</a:t>
            </a:r>
          </a:p>
          <a:p>
            <a:br/>
            <a:pPr>
              <a:defRPr sz="900">
                <a:solidFill>
                  <a:srgbClr val="B4C3D2"/>
                </a:solidFill>
              </a:defRPr>
            </a:pPr>
            <a:r>
              <a:t>📍 Estádio de Calulo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371600"/>
            <a:ext cx="2560320" cy="219456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43416" y="1481328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94C"/>
                </a:solidFill>
              </a:defRPr>
            </a:pPr>
            <a:r>
              <a:t>🗓️ 13 SET · 15:00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CR Caála</a:t>
            </a:r>
          </a:p>
          <a:p>
            <a:pPr>
              <a:defRPr sz="1100">
                <a:solidFill>
                  <a:srgbClr val="F2C94C"/>
                </a:solidFill>
              </a:defRPr>
            </a:pPr>
            <a:r>
              <a:t>vs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Desportivo da Huíla</a:t>
            </a:r>
          </a:p>
          <a:p>
            <a:br/>
            <a:pPr>
              <a:defRPr sz="900">
                <a:solidFill>
                  <a:srgbClr val="B4C3D2"/>
                </a:solidFill>
              </a:defRPr>
            </a:pPr>
            <a:r>
              <a:t>📍 Estádio Daniel Lutucuta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2560320" cy="219456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50208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94C"/>
                </a:solidFill>
              </a:defRPr>
            </a:pPr>
            <a:r>
              <a:t>🗓️ 13 SET · 15:00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Desportivo da Lunda Sul</a:t>
            </a:r>
          </a:p>
          <a:p>
            <a:pPr>
              <a:defRPr sz="1100">
                <a:solidFill>
                  <a:srgbClr val="F2C94C"/>
                </a:solidFill>
              </a:defRPr>
            </a:pPr>
            <a:r>
              <a:t>vs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Sagrada Esperança</a:t>
            </a:r>
          </a:p>
          <a:p>
            <a:br/>
            <a:pPr>
              <a:defRPr sz="900">
                <a:solidFill>
                  <a:srgbClr val="B4C3D2"/>
                </a:solidFill>
              </a:defRPr>
            </a:pPr>
            <a:r>
              <a:t>📍 Estádio Sagrada Esperança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3840480"/>
            <a:ext cx="2560320" cy="219456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3950208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94C"/>
                </a:solidFill>
              </a:defRPr>
            </a:pPr>
            <a:r>
              <a:t>🗓️ 13 SET · 15:00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Wiliete de Benguela</a:t>
            </a:r>
          </a:p>
          <a:p>
            <a:pPr>
              <a:defRPr sz="1100">
                <a:solidFill>
                  <a:srgbClr val="F2C94C"/>
                </a:solidFill>
              </a:defRPr>
            </a:pPr>
            <a:r>
              <a:t>vs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FC Luanda</a:t>
            </a:r>
          </a:p>
          <a:p>
            <a:br/>
            <a:pPr>
              <a:defRPr sz="900">
                <a:solidFill>
                  <a:srgbClr val="B4C3D2"/>
                </a:solidFill>
              </a:defRPr>
            </a:pPr>
            <a:r>
              <a:t>📍 Estádio Nac. de Ombaka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840480"/>
            <a:ext cx="2560320" cy="219456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3950208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94C"/>
                </a:solidFill>
              </a:defRPr>
            </a:pPr>
            <a:r>
              <a:t>🗓️ 16 SET · 15:00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Bravos do Maquis</a:t>
            </a:r>
          </a:p>
          <a:p>
            <a:pPr>
              <a:defRPr sz="1100">
                <a:solidFill>
                  <a:srgbClr val="F2C94C"/>
                </a:solidFill>
              </a:defRPr>
            </a:pPr>
            <a:r>
              <a:t>vs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Kabuscorp SC</a:t>
            </a:r>
          </a:p>
          <a:p>
            <a:br/>
            <a:pPr>
              <a:defRPr sz="900">
                <a:solidFill>
                  <a:srgbClr val="B4C3D2"/>
                </a:solidFill>
              </a:defRPr>
            </a:pPr>
            <a:r>
              <a:t>📍 Estádio Mundunduleno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3840480"/>
            <a:ext cx="2560320" cy="219456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3950208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2C94C"/>
                </a:solidFill>
              </a:defRPr>
            </a:pPr>
            <a:r>
              <a:t>🗓️ 16 SET · 15:30</a:t>
            </a:r>
          </a:p>
          <a:p>
            <a:br/>
            <a:pPr>
              <a:defRPr sz="1300" b="1">
                <a:solidFill>
                  <a:srgbClr val="FFFFFF"/>
                </a:solidFill>
              </a:defRPr>
            </a:pPr>
            <a:r>
              <a:t>São Salvador</a:t>
            </a:r>
          </a:p>
          <a:p>
            <a:pPr>
              <a:defRPr sz="1100">
                <a:solidFill>
                  <a:srgbClr val="F2C94C"/>
                </a:solidFill>
              </a:defRPr>
            </a:pPr>
            <a:r>
              <a:t>vs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Petro de Luanda</a:t>
            </a:r>
          </a:p>
          <a:p>
            <a:br/>
            <a:pPr>
              <a:defRPr sz="900">
                <a:solidFill>
                  <a:srgbClr val="B4C3D2"/>
                </a:solidFill>
              </a:defRPr>
            </a:pPr>
            <a:r>
              <a:t>📍 Estádio Álvaro Buta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ANTEVISÃO ESTRATÉGICA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QUATRO JOGOS IMPERDÍVEIS DA 4.ª JORNADA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05156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8132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2C94C"/>
                </a:solidFill>
              </a:defRPr>
            </a:pPr>
            <a:r>
              <a:t>FC CABINDA × 1.º DE AGOSTO (09 SET · VICI ANTÓNIO)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O líder militar de Filipe Nzanza viaja ao norte para defender o pleno de vitórias contra um Cabinda ferido no fundo da tabela.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728655" cy="105156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7004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2C94C"/>
                </a:solidFill>
              </a:defRPr>
            </a:pPr>
            <a:r>
              <a:t>WILIETE DE BENGUELA × FC LUANDA (13 SET · OMBAKA)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O Wiliete, invicto e com 2 vitórias em 2 jogos, recebe o aguerrido FC Luanda de Jaime Caetano, que vem de vitória moralizadora.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728655" cy="105156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858767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2C94C"/>
                </a:solidFill>
              </a:defRPr>
            </a:pPr>
            <a:r>
              <a:t>SÃO SALVADOR × PETRO DE LUANDA (16 SET · ÁLVARO BUTA)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O campeão Petro testa a sua baliza 100% inviolável no difícil reduto do São Salvador do Kongo, motivado pela vitória na jornada 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10728655" cy="105156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47488"/>
            <a:ext cx="10149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2C94C"/>
                </a:solidFill>
              </a:defRPr>
            </a:pPr>
            <a:r>
              <a:t>BRAVOS DO MAQUIS × KABUSCORP SC (16 SET · MUNDUNDULENO)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Confronto direto no Luena entre dois candidatos históricos à procura de recuperação imediata após desaires na jornada anterior.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2C94C"/>
                </a:solidFill>
                <a:latin typeface="Arial"/>
              </a:defRPr>
            </a:pPr>
            <a:r>
              <a:t>SÍNTESE EDITORIAL</a:t>
            </a:r>
          </a:p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 3.ª JORNADA EM 7 NÚMEROS FUNDAMENTAIS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59436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4475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01  ·  1.º DE AGOSTO ISOLADO — 9 Pontos e pleno absoluto de vitórias (3 em 3).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66543"/>
            <a:ext cx="10728655" cy="59436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39695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02  ·  PETRO DE LUANDA IMPENETRÁVEL — 0 Golos sofridos em 3 partidas (baliza virgem).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61488"/>
            <a:ext cx="10728655" cy="59436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03  ·  15 GOLOS ANOTADOS — Excelente média de 2.50 golos nos 6 jogos disputados.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56432"/>
            <a:ext cx="10728655" cy="59436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2958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04  ·  DAGÓ TSHIBAMBA LIDERA — 3 Golos em 3 jogos colocam o avançado no topo da artilharia.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51376"/>
            <a:ext cx="10728655" cy="59436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2452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05  ·  PODER DE SUPERAÇÃO — 1.º de Agosto e Caála venceram de reviravolta aos 90 minutos.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10728655" cy="59436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1947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06  ·  ZONA LETAL (76'–90+') — 13 Golos nos últimos quartos de hora comprovam emoção até ao fim.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41264"/>
            <a:ext cx="10728655" cy="594360"/>
          </a:xfrm>
          <a:prstGeom prst="roundRect">
            <a:avLst/>
          </a:prstGeom>
          <a:solidFill>
            <a:srgbClr val="0C2739"/>
          </a:solidFill>
          <a:ln>
            <a:solidFill>
              <a:srgbClr val="087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614416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07  ·  82 CARTÕES EXIBIDOS — Competitividade ao rubro com respeito às decisões de arbitragem.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8534095" cy="3657600"/>
          </a:xfrm>
          <a:prstGeom prst="roundRect">
            <a:avLst/>
          </a:prstGeom>
          <a:solidFill>
            <a:srgbClr val="0C2739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0" y="2011680"/>
            <a:ext cx="795527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2C94C"/>
                </a:solidFill>
              </a:defRPr>
            </a:pPr>
            <a:r>
              <a:t>LIGA UNITEL GIRABOLA 2026/2027</a:t>
            </a:r>
          </a:p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ATÉ À 4.ª JORNADA</a:t>
            </a:r>
          </a:p>
          <a:p>
            <a:pPr algn="ctr">
              <a:defRPr sz="1800">
                <a:solidFill>
                  <a:srgbClr val="0878C9"/>
                </a:solidFill>
              </a:defRPr>
            </a:pPr>
            <a:r>
              <a:t>Acompanhamento Oficial das 30 Jornadas do Futebol Angolano</a:t>
            </a:r>
          </a:p>
          <a:p>
            <a:br/>
            <a:pPr algn="ctr">
              <a:defRPr sz="1200">
                <a:solidFill>
                  <a:srgbClr val="B4C3D2"/>
                </a:solidFill>
              </a:defRPr>
            </a:pPr>
            <a:r>
              <a:t>Dados Oficiais Homologados · Associação Nacional de Clubes de Angola (ANCAF)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